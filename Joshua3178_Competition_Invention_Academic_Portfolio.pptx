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2dd94ac2614c45" /><Relationship Type="http://schemas.openxmlformats.org/officeDocument/2006/relationships/extended-properties" Target="/docProps/app.xml" Id="Re04f45767c064d75" /><Relationship Type="http://schemas.openxmlformats.org/officeDocument/2006/relationships/officeDocument" Target="/ppt/presentation.xml" Id="Rd664bfba902649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f8ca3260204868"/>
  </p:sldMasterIdLst>
  <p:notesMasterIdLst>
    <p:notesMasterId xmlns:r="http://schemas.openxmlformats.org/officeDocument/2006/relationships" r:id="R9423c3a52ef4452d"/>
  </p:notesMasterIdLst>
  <p:sldIdLst>
    <p:sldId xmlns:r="http://schemas.openxmlformats.org/officeDocument/2006/relationships" id="256" r:id="R0dbc105d5c444076"/>
    <p:sldId xmlns:r="http://schemas.openxmlformats.org/officeDocument/2006/relationships" id="257" r:id="R72ae247629a54939"/>
    <p:sldId xmlns:r="http://schemas.openxmlformats.org/officeDocument/2006/relationships" id="258" r:id="Rf86cc07f1bde4fe3"/>
    <p:sldId xmlns:r="http://schemas.openxmlformats.org/officeDocument/2006/relationships" id="259" r:id="Re9619c08e5504ba9"/>
    <p:sldId xmlns:r="http://schemas.openxmlformats.org/officeDocument/2006/relationships" id="260" r:id="R19cdab20cb8545af"/>
    <p:sldId xmlns:r="http://schemas.openxmlformats.org/officeDocument/2006/relationships" id="261" r:id="R200b2ce4698d4df1"/>
    <p:sldId xmlns:r="http://schemas.openxmlformats.org/officeDocument/2006/relationships" id="262" r:id="R7752aebb56aa4632"/>
    <p:sldId xmlns:r="http://schemas.openxmlformats.org/officeDocument/2006/relationships" id="263" r:id="Re4cbbf70df5e40d3"/>
    <p:sldId xmlns:r="http://schemas.openxmlformats.org/officeDocument/2006/relationships" id="264" r:id="R6eab18fe9db1452a"/>
    <p:sldId xmlns:r="http://schemas.openxmlformats.org/officeDocument/2006/relationships" id="265" r:id="Rfc02824ad7dc4a7f"/>
    <p:sldId xmlns:r="http://schemas.openxmlformats.org/officeDocument/2006/relationships" id="266" r:id="R5190f868fdc54568"/>
    <p:sldId xmlns:r="http://schemas.openxmlformats.org/officeDocument/2006/relationships" id="267" r:id="R2b1ff996ecef4f56"/>
    <p:sldId xmlns:r="http://schemas.openxmlformats.org/officeDocument/2006/relationships" id="268" r:id="R991285f6d2eb4e95"/>
    <p:sldId xmlns:r="http://schemas.openxmlformats.org/officeDocument/2006/relationships" id="269" r:id="Re68c25b8dc2b4d27"/>
    <p:sldId xmlns:r="http://schemas.openxmlformats.org/officeDocument/2006/relationships" id="270" r:id="Ra4fe3da0226b49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09912daa6d4f16" /><Relationship Type="http://schemas.openxmlformats.org/officeDocument/2006/relationships/slideMaster" Target="/ppt/slideMasters/slideMaster1.xml" Id="Rd3f8ca3260204868" /><Relationship Type="http://schemas.openxmlformats.org/officeDocument/2006/relationships/notesMaster" Target="/ppt/notesMasters/notesMaster1.xml" Id="R9423c3a52ef4452d" /><Relationship Type="http://schemas.openxmlformats.org/officeDocument/2006/relationships/presProps" Target="/ppt/presProps.xml" Id="R2a60b68d74d44516" /><Relationship Type="http://schemas.openxmlformats.org/officeDocument/2006/relationships/tableStyles" Target="/ppt/tableStyles.xml" Id="R25d8e2f2befe4e70" /><Relationship Type="http://schemas.openxmlformats.org/officeDocument/2006/relationships/slide" Target="/ppt/slides/slide1.xml" Id="R0dbc105d5c444076" /><Relationship Type="http://schemas.openxmlformats.org/officeDocument/2006/relationships/slide" Target="/ppt/slides/slide2.xml" Id="R72ae247629a54939" /><Relationship Type="http://schemas.openxmlformats.org/officeDocument/2006/relationships/slide" Target="/ppt/slides/slide3.xml" Id="Rf86cc07f1bde4fe3" /><Relationship Type="http://schemas.openxmlformats.org/officeDocument/2006/relationships/slide" Target="/ppt/slides/slide4.xml" Id="Re9619c08e5504ba9" /><Relationship Type="http://schemas.openxmlformats.org/officeDocument/2006/relationships/slide" Target="/ppt/slides/slide5.xml" Id="R19cdab20cb8545af" /><Relationship Type="http://schemas.openxmlformats.org/officeDocument/2006/relationships/slide" Target="/ppt/slides/slide6.xml" Id="R200b2ce4698d4df1" /><Relationship Type="http://schemas.openxmlformats.org/officeDocument/2006/relationships/slide" Target="/ppt/slides/slide7.xml" Id="R7752aebb56aa4632" /><Relationship Type="http://schemas.openxmlformats.org/officeDocument/2006/relationships/slide" Target="/ppt/slides/slide8.xml" Id="Re4cbbf70df5e40d3" /><Relationship Type="http://schemas.openxmlformats.org/officeDocument/2006/relationships/slide" Target="/ppt/slides/slide9.xml" Id="R6eab18fe9db1452a" /><Relationship Type="http://schemas.openxmlformats.org/officeDocument/2006/relationships/slide" Target="/ppt/slides/slide10.xml" Id="Rfc02824ad7dc4a7f" /><Relationship Type="http://schemas.openxmlformats.org/officeDocument/2006/relationships/slide" Target="/ppt/slides/slide11.xml" Id="R5190f868fdc54568" /><Relationship Type="http://schemas.openxmlformats.org/officeDocument/2006/relationships/slide" Target="/ppt/slides/slide12.xml" Id="R2b1ff996ecef4f56" /><Relationship Type="http://schemas.openxmlformats.org/officeDocument/2006/relationships/slide" Target="/ppt/slides/slide13.xml" Id="R991285f6d2eb4e95" /><Relationship Type="http://schemas.openxmlformats.org/officeDocument/2006/relationships/slide" Target="/ppt/slides/slide14.xml" Id="Re68c25b8dc2b4d27" /><Relationship Type="http://schemas.openxmlformats.org/officeDocument/2006/relationships/slide" Target="/ppt/slides/slide15.xml" Id="Ra4fe3da0226b49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7c4a397b2749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cec308c20746f0" /><Relationship Type="http://schemas.openxmlformats.org/officeDocument/2006/relationships/notesMaster" Target="/ppt/notesMasters/notesMaster1.xml" Id="Re5e4707d54c246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e04c5ddf9b4ac6" /><Relationship Type="http://schemas.openxmlformats.org/officeDocument/2006/relationships/notesMaster" Target="/ppt/notesMasters/notesMaster1.xml" Id="R6c4a93f8d0c049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9c18013fe947eb" /><Relationship Type="http://schemas.openxmlformats.org/officeDocument/2006/relationships/notesMaster" Target="/ppt/notesMasters/notesMaster1.xml" Id="R73a7b0d97de74c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29a771615c4d08" /><Relationship Type="http://schemas.openxmlformats.org/officeDocument/2006/relationships/notesMaster" Target="/ppt/notesMasters/notesMaster1.xml" Id="Ra484f1e958f040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503ca1d2a24183" /><Relationship Type="http://schemas.openxmlformats.org/officeDocument/2006/relationships/notesMaster" Target="/ppt/notesMasters/notesMaster1.xml" Id="R0ead7e0987e74a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b0caf9d9944111" /><Relationship Type="http://schemas.openxmlformats.org/officeDocument/2006/relationships/notesMaster" Target="/ppt/notesMasters/notesMaster1.xml" Id="Rc46d54d04d0145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f87891497340c6" /><Relationship Type="http://schemas.openxmlformats.org/officeDocument/2006/relationships/notesMaster" Target="/ppt/notesMasters/notesMaster1.xml" Id="R10640ad46b6746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dda4cb14e64162" /><Relationship Type="http://schemas.openxmlformats.org/officeDocument/2006/relationships/notesMaster" Target="/ppt/notesMasters/notesMaster1.xml" Id="R6f15e4b2591947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8eadce6b1b4eec" /><Relationship Type="http://schemas.openxmlformats.org/officeDocument/2006/relationships/notesMaster" Target="/ppt/notesMasters/notesMaster1.xml" Id="R3165971eda1143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99e85ea3ce4a48" /><Relationship Type="http://schemas.openxmlformats.org/officeDocument/2006/relationships/notesMaster" Target="/ppt/notesMasters/notesMaster1.xml" Id="R00155062d5bd45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5c979cfa484393" /><Relationship Type="http://schemas.openxmlformats.org/officeDocument/2006/relationships/notesMaster" Target="/ppt/notesMasters/notesMaster1.xml" Id="R1547c102b4df40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e600fd288c42c9" /><Relationship Type="http://schemas.openxmlformats.org/officeDocument/2006/relationships/notesMaster" Target="/ppt/notesMasters/notesMaster1.xml" Id="Rabfd2b3b59144eb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7c8879da2854c77" /><Relationship Type="http://schemas.openxmlformats.org/officeDocument/2006/relationships/notesMaster" Target="/ppt/notesMasters/notesMaster1.xml" Id="Ra38a08d06d4940c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82e8b403564b88" /><Relationship Type="http://schemas.openxmlformats.org/officeDocument/2006/relationships/notesMaster" Target="/ppt/notesMasters/notesMaster1.xml" Id="R4c21970822be4e7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0fb2dc396e74793" /><Relationship Type="http://schemas.openxmlformats.org/officeDocument/2006/relationships/notesMaster" Target="/ppt/notesMasters/notesMaster1.xml" Id="Rad44890ba65344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936c7034de4c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aab144b18f4304" /><Relationship Type="http://schemas.openxmlformats.org/officeDocument/2006/relationships/slideLayout" Target="/ppt/slideLayouts/slideLayout1.xml" Id="Rd5cad2a4118e4f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cad2a4118e4f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02d54663a4181" /><Relationship Type="http://schemas.openxmlformats.org/officeDocument/2006/relationships/notesSlide" Target="/ppt/notesSlides/notesSlide1.xml" Id="R4cb66b20b8cf4c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09d8c951d4663" /><Relationship Type="http://schemas.openxmlformats.org/officeDocument/2006/relationships/notesSlide" Target="/ppt/notesSlides/notesSlide2.xml" Id="R795dfbaf7e924c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37ca6928b4ac3" /><Relationship Type="http://schemas.openxmlformats.org/officeDocument/2006/relationships/notesSlide" Target="/ppt/notesSlides/notesSlide3.xml" Id="Rbd82a9c7ba8447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befaf3610488c" /><Relationship Type="http://schemas.openxmlformats.org/officeDocument/2006/relationships/notesSlide" Target="/ppt/notesSlides/notesSlide4.xml" Id="R394074e27e6b44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82c9a9bb0435a" /><Relationship Type="http://schemas.openxmlformats.org/officeDocument/2006/relationships/notesSlide" Target="/ppt/notesSlides/notesSlide5.xml" Id="R7489b621b8ad48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e16bbc40e4ad3" /><Relationship Type="http://schemas.openxmlformats.org/officeDocument/2006/relationships/notesSlide" Target="/ppt/notesSlides/notesSlide6.xml" Id="R809e1858e34445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02d24afa44ee9" /><Relationship Type="http://schemas.openxmlformats.org/officeDocument/2006/relationships/notesSlide" Target="/ppt/notesSlides/notesSlide7.xml" Id="Re00edeb92aa34b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8750d7cdb4776" /><Relationship Type="http://schemas.openxmlformats.org/officeDocument/2006/relationships/notesSlide" Target="/ppt/notesSlides/notesSlide8.xml" Id="Rfb2ab3c50c1049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6b6f7be284545" /><Relationship Type="http://schemas.openxmlformats.org/officeDocument/2006/relationships/notesSlide" Target="/ppt/notesSlides/notesSlide9.xml" Id="Ra141648c24464f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e4ba60aac4c41" /><Relationship Type="http://schemas.openxmlformats.org/officeDocument/2006/relationships/notesSlide" Target="/ppt/notesSlides/notesSlide10.xml" Id="Rb75094cd963d4b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7795647064c70" /><Relationship Type="http://schemas.openxmlformats.org/officeDocument/2006/relationships/notesSlide" Target="/ppt/notesSlides/notesSlide11.xml" Id="Radb44a41b78c43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8edc7c72448ca" /><Relationship Type="http://schemas.openxmlformats.org/officeDocument/2006/relationships/notesSlide" Target="/ppt/notesSlides/notesSlide12.xml" Id="R037905909ded4b4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87acc2e3b4d4f" /><Relationship Type="http://schemas.openxmlformats.org/officeDocument/2006/relationships/notesSlide" Target="/ppt/notesSlides/notesSlide13.xml" Id="Ra9ceff75a440431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b1402306949fe" /><Relationship Type="http://schemas.openxmlformats.org/officeDocument/2006/relationships/notesSlide" Target="/ppt/notesSlides/notesSlide14.xml" Id="R4a4e49bd53a748e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937209a824529" /><Relationship Type="http://schemas.openxmlformats.org/officeDocument/2006/relationships/notesSlide" Target="/ppt/notesSlides/notesSlide15.xml" Id="R772d8ddf3bcb4e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4AC60-8C11-430D-97E3-2719B08B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0">
            <a:solidFill>
              <a:srgbClr val="11233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45910-3485-433E-91D4-2C808B00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0">
            <a:solidFill>
              <a:srgbClr val="C8893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1F7E8-2F13-4A8E-A951-A7F24C50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DEBEE"/>
                </a:solidFill>
              </a:defRPr>
            </a:pPr>
            <a:r>
              <a:rPr sz="1050" b="1">
                <a:solidFill>
                  <a:srgbClr val="DDEBEE"/>
                </a:solidFill>
              </a:rPr>
              <a:t>PORTFOLIO SERIES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2836B5-E426-4799-9A88-1A283A81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82633"/>
                </a:solidFill>
              </a:defRPr>
            </a:pPr>
            <a:r>
              <a:rPr sz="4050" b="1">
                <a:solidFill>
                  <a:srgbClr val="182633"/>
                </a:solidFill>
              </a:rPr>
              <a:t>Competition, prototype and academic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74CE9-6E3A-4ED3-9596-52E9FDB8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1717C"/>
                </a:solidFill>
              </a:defRPr>
            </a:pPr>
            <a:r>
              <a:rPr sz="1800" b="0">
                <a:solidFill>
                  <a:srgbClr val="61717C"/>
                </a:solidFill>
              </a:rPr>
              <a:t>A concise record of the competition entries, designs and coursework projects.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2F0A5-8E5E-4922-980E-86A3ED21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PROJECT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BA150-A882-442D-869E-BFEE0177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810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1717C"/>
                </a:solidFill>
              </a:defRPr>
            </a:pPr>
            <a:r>
              <a:rPr sz="750" b="1">
                <a:solidFill>
                  <a:srgbClr val="61717C"/>
                </a:solidFill>
              </a:rPr>
              <a:t>PORTFOLIO SERIES  /  01</a:t>
            </a:r>
          </a:p>
        </p:txBody>
      </p:sp>
    </p:spTree>
    <p:extLst>
      <p:ext uri="{BB962C8B-B14F-4D97-AF65-F5344CB8AC3E}">
        <p14:creationId xmlns:p14="http://schemas.microsoft.com/office/powerpoint/2010/main" val="16705487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09397A-8966-4AFE-B732-8DD2108E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0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6F5A0-D84C-4FEC-9551-897BCB06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CONTENTS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BA85C-C926-41CC-A23C-02AABA20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633"/>
                </a:solidFill>
              </a:defRPr>
            </a:pPr>
            <a:r>
              <a:rPr sz="2850" b="1">
                <a:solidFill>
                  <a:srgbClr val="182633"/>
                </a:solidFill>
              </a:rPr>
              <a:t>Contents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C5D1E-C76F-4A15-9EE2-103C6948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17955-0962-4B37-A52E-CFE1B822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810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1717C"/>
                </a:solidFill>
              </a:defRPr>
            </a:pPr>
            <a:r>
              <a:rPr sz="750" b="1">
                <a:solidFill>
                  <a:srgbClr val="61717C"/>
                </a:solidFill>
              </a:rPr>
              <a:t>PORTFOLIO SERIES  / 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E525C-A5A9-449B-840A-BE25BDAC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7C"/>
                </a:solidFill>
              </a:defRPr>
            </a:pPr>
            <a:r>
              <a:rPr sz="1350" b="0">
                <a:solidFill>
                  <a:srgbClr val="61717C"/>
                </a:solidFill>
              </a:rPr>
              <a:t>Sections are arranged in the order shown below.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2E0C6-30BE-4339-B515-46A5A223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88938"/>
                </a:solidFill>
              </a:defRPr>
            </a:pPr>
            <a:r>
              <a:rPr sz="1425" b="1">
                <a:solidFill>
                  <a:srgbClr val="C88938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3A952-24A0-4207-A1A0-64B18787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670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633"/>
                </a:solidFill>
              </a:defRPr>
            </a:pPr>
            <a:r>
              <a:rPr sz="1875" b="1">
                <a:solidFill>
                  <a:srgbClr val="182633"/>
                </a:solidFill>
              </a:rPr>
              <a:t>Competition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C478B-0CD3-4928-8DD3-D95499B5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33725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838F0-3999-4B9B-9685-50C735CD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88938"/>
                </a:solidFill>
              </a:defRPr>
            </a:pPr>
            <a:r>
              <a:rPr sz="1425" b="1">
                <a:solidFill>
                  <a:srgbClr val="C8893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F6A21-7EDE-46BD-8CCF-FB22497E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718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633"/>
                </a:solidFill>
              </a:defRPr>
            </a:pPr>
            <a:r>
              <a:rPr sz="1875" b="1">
                <a:solidFill>
                  <a:srgbClr val="182633"/>
                </a:solidFill>
              </a:rPr>
              <a:t>Prototype and invention 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B34FB-C130-4DDA-836D-08960B30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38575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6E0D1A-C52E-47B6-9C33-8C0E4E63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88938"/>
                </a:solidFill>
              </a:defRPr>
            </a:pPr>
            <a:r>
              <a:rPr sz="1425" b="1">
                <a:solidFill>
                  <a:srgbClr val="C88938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7F0905-B731-4F07-A992-BD030880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767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633"/>
                </a:solidFill>
              </a:defRPr>
            </a:pPr>
            <a:r>
              <a:rPr sz="1875" b="1">
                <a:solidFill>
                  <a:srgbClr val="182633"/>
                </a:solidFill>
              </a:rPr>
              <a:t>Academic 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005EE1-8822-4B6A-8149-A78F1552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43425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9723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18AB30-D8E6-4A41-A607-B6C11CE6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0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464FD-9D6D-4E62-9123-0D192EE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COMPETITION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7C051-E367-4894-BBCE-E0BF6824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633"/>
                </a:solidFill>
              </a:defRPr>
            </a:pPr>
            <a:r>
              <a:rPr sz="2850" b="1">
                <a:solidFill>
                  <a:srgbClr val="182633"/>
                </a:solidFill>
              </a:rPr>
              <a:t>Competition work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5625D-FBA2-4F0D-BA3A-A4BE876A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FF3D6-65B0-403E-A16D-E565B700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810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1717C"/>
                </a:solidFill>
              </a:defRPr>
            </a:pPr>
            <a:r>
              <a:rPr sz="750" b="1">
                <a:solidFill>
                  <a:srgbClr val="61717C"/>
                </a:solidFill>
              </a:rPr>
              <a:t>PORTFOLIO SERIES  / 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14056-9404-4077-8715-013C88CE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E0626-9D27-455A-907C-42A8BD70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955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APCYA: Project Flamescion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73A47-44B9-4B04-B051-781E8DE3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098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 P300/EEG concept for selecting a visible object by attention and triggering robotic retrieval.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932ED-A70F-4903-89A8-305DA755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1DFEDC-2DC7-4197-A693-0DDCD7F1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BFB1B-BB6A-4953-ABB9-40476DE9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622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ITEX modular construction system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0D1C6-FF11-4ECD-BFE4-67058DE4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766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 3D-printed modular structure using building layers, floor connectors, a base, and interchangeable slide and sledge parts.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8341A-4E34-4681-9B14-74F116E5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B91A41-E8DE-4117-BD63-7F386A2A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03837-9A82-4AE8-B462-97E0AC72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KitaHack visual surgical screening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1BF81D-CC17-4945-B866-7B557831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4337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 visual surgical-field prototype using zero-shot detection and optional segmentation to flag bleeding and retained instruments in images.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EEEC7E-38D0-49CB-B329-C857EA9A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26A99-1E76-4D21-9420-BC74BEB9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1738FD-C50B-4E08-B5F9-E06FB985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958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T4G 2024 sustainable-system concepts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15A460-5C67-4139-94A9-FC8BBA44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101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 set of sustainable designs covering modular wastewater purification, reverse-osmosis filtration, and an aquaponics greenhouse with monitoring.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A0CE80-D968-414C-BF18-706AA3A5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768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9693C5-CADA-4C72-8D84-18C1BCBB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179F4C-8446-4DE8-87D2-FBA8FCDC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626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TKK 2020 automated aquaponics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671083-110F-40A8-9AED-35ADD7E1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769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An aquaponics concept with a plant base, fish pond, filtration, pumping and water-quality sensing.</a:t>
            </a:r>
          </a:p>
        </p:txBody>
      </p:sp>
    </p:spTree>
    <p:extLst>
      <p:ext uri="{BB962C8B-B14F-4D97-AF65-F5344CB8AC3E}">
        <p14:creationId xmlns:p14="http://schemas.microsoft.com/office/powerpoint/2010/main" val="15680088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804D9-8B90-4ED4-BE16-009DF425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0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C958A-2987-4B8B-8B80-7A9F3E1F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COMPETITION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09F2B-E3C2-4DCF-A340-D31E9A13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633"/>
                </a:solidFill>
              </a:defRPr>
            </a:pPr>
            <a:r>
              <a:rPr sz="2850" b="1">
                <a:solidFill>
                  <a:srgbClr val="182633"/>
                </a:solidFill>
              </a:rPr>
              <a:t>Competition work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F68A45-9770-4552-8B51-C1CD6138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A31E7-9B21-4523-8279-32B4DD9B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810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1717C"/>
                </a:solidFill>
              </a:defRPr>
            </a:pPr>
            <a:r>
              <a:rPr sz="750" b="1">
                <a:solidFill>
                  <a:srgbClr val="61717C"/>
                </a:solidFill>
              </a:rPr>
              <a:t>PORTFOLIO SERIES  / 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D4D53-450D-4375-8E41-D8051E3E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5057F-74E0-4C47-92E2-33693FB5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955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EcoFusion Septic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589D9-427F-4B2A-B213-C84B12AA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098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 sewage-treatment proposal that converts solid waste into bioplastic and captures gaseous waste for electricity generation.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3D7B4-FACF-49FC-B1FE-38E672FF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05826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49B977-D2F3-4BFE-9CE3-F365100D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0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2B5D4-DFAE-4A3F-B543-CC45FB75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PROTOTYPE AND INVENTION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6D6B2-C3AC-4588-8E69-BF2829C8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633"/>
                </a:solidFill>
              </a:defRPr>
            </a:pPr>
            <a:r>
              <a:rPr sz="2850" b="1">
                <a:solidFill>
                  <a:srgbClr val="182633"/>
                </a:solidFill>
              </a:rPr>
              <a:t>Prototype and invention work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711C2-2608-4201-965B-93168C47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F7264-C183-4229-90A8-E138AD4F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810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1717C"/>
                </a:solidFill>
              </a:defRPr>
            </a:pPr>
            <a:r>
              <a:rPr sz="750" b="1">
                <a:solidFill>
                  <a:srgbClr val="61717C"/>
                </a:solidFill>
              </a:rPr>
              <a:t>PORTFOLIO SERIES  / 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52BB0-0570-4A94-A1F7-6839B7B8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6A4D4-923E-4592-87D4-5649EF1E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955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BA Land Raider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A0F6A-287B-4374-A57C-56AF972A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098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 tracked mechanical model with CAD and printable track revisions.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B6CEE1-B099-4FF3-BD8A-A4050AD9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C2423-9CCE-4EEB-9F3F-D6264995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1230BE-A4CA-4D4F-B095-155AF588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622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Bed storage and hook 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839FD-6A8F-4679-9C6E-417E7A70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766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 compact storage concept built from container and hook CAD components.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6B491-7DE1-4D1E-B59B-168F67EC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D6C88-C0A9-4E4E-BF73-5208C113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75A51E-F98F-4059-BECE-F144D315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Casing design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DFC08E-B463-4C73-8450-48EE797F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4337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 fabricated enclosure study with several base revisions.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53D16A-EB7A-4752-BCA8-9B1F4ACE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19AD86-43D1-450F-9029-983B845D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BA8B9A-0CB1-4604-88EA-624039F0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958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Recruitment display components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D217E8-AC43-4C10-BFCC-A51EEA1B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101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Printable base and cover pieces designed for a physical recruitment display.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4810D1-A36A-459A-AFF9-D06AB3D8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768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322414-5A11-4305-A9CC-DB34E8D9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5AAD1F-AF42-49D7-8149-F43D6FD0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626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Wireless charging stand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F01895-02F2-400A-A706-93464894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769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 printable charging-stand concept with main body and base revisions.</a:t>
            </a:r>
          </a:p>
        </p:txBody>
      </p:sp>
    </p:spTree>
    <p:extLst>
      <p:ext uri="{BB962C8B-B14F-4D97-AF65-F5344CB8AC3E}">
        <p14:creationId xmlns:p14="http://schemas.microsoft.com/office/powerpoint/2010/main" val="8619287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3D77E2-3EA2-49E9-993D-6F7764AF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0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C2E72-8AC4-4B6E-B32E-478CC271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PROTOTYPE AND INVENTION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E728E-DA28-4E36-8B04-F945ECC4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633"/>
                </a:solidFill>
              </a:defRPr>
            </a:pPr>
            <a:r>
              <a:rPr sz="2850" b="1">
                <a:solidFill>
                  <a:srgbClr val="182633"/>
                </a:solidFill>
              </a:rPr>
              <a:t>Prototype and invention work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8092C-1CB2-4659-B50B-7EF62EA4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AC638-6E78-47EB-988C-49130F78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810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1717C"/>
                </a:solidFill>
              </a:defRPr>
            </a:pPr>
            <a:r>
              <a:rPr sz="750" b="1">
                <a:solidFill>
                  <a:srgbClr val="61717C"/>
                </a:solidFill>
              </a:rPr>
              <a:t>PORTFOLIO SERIES  / 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0BDFA-265C-4BE6-BA34-17608108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9EB11-4C42-4CE5-9E90-46A264CB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955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Cage prototype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E5DD2-05F1-47B2-8A02-BC4BFAFA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098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 CAD enclosure with an assembly model and a separate bottom structure.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E6FCC-6F6B-410F-96AD-56BD07FD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7BD47-E345-45C3-B16E-56F4B6D4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44E90-4D00-401D-BF85-577DCD63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622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EEG 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4630D-522A-4ADD-AA13-048CB857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766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An early EEG-based interaction direction that developed into the later FYP research route.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1343C8-9ACD-4FBA-B48D-BD43BF49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1B71C-D2C2-4FE5-B079-B904518D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158C02-5264-411A-B670-8547DE36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Personalised AI concept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DF770A-AF50-4C4D-BCE0-1E262E44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4337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An early personal-AI design direction retained with the wider software and hardware project record.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D31C1D-49B5-498A-A6DF-6B2DCC5B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A1D051-8738-4644-A921-320501FE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28EC17-5117-4CD0-B383-5F048520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958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AiDaptive EEG proposal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03F4D9-5B6E-42A2-98F6-7190B228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101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 proposal connecting EEG-based intent selection with an adaptive robotics direction.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B68B24-15C6-485B-998C-B01875A4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768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AD3393-1044-4684-94FC-57E5A63B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EDFCD0-A54B-4E0F-BA2C-2A1914F5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626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ESD group structure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EE96EB-94CE-43D1-837E-7BD00492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769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 CAD structure comprising roof, leg, wall, bottom and connector assemblies.</a:t>
            </a:r>
          </a:p>
        </p:txBody>
      </p:sp>
    </p:spTree>
    <p:extLst>
      <p:ext uri="{BB962C8B-B14F-4D97-AF65-F5344CB8AC3E}">
        <p14:creationId xmlns:p14="http://schemas.microsoft.com/office/powerpoint/2010/main" val="17428773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126BCD-B295-4275-965B-A3B7954E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0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78630-E4EF-4C0F-AB27-63FC8D21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PROTOTYPE AND INVENTION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11419-8B8F-47E2-90D5-B6E02AE2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633"/>
                </a:solidFill>
              </a:defRPr>
            </a:pPr>
            <a:r>
              <a:rPr sz="2850" b="1">
                <a:solidFill>
                  <a:srgbClr val="182633"/>
                </a:solidFill>
              </a:rPr>
              <a:t>Prototype and invention work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CF5E9-7981-4697-B3AD-04447B48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58CBC-DB6D-4D3A-B372-A556E658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810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1717C"/>
                </a:solidFill>
              </a:defRPr>
            </a:pPr>
            <a:r>
              <a:rPr sz="750" b="1">
                <a:solidFill>
                  <a:srgbClr val="61717C"/>
                </a:solidFill>
              </a:rPr>
              <a:t>PORTFOLIO SERIES  / 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DB837-DB39-45AA-8CD0-53125A5B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0CAF4-F5D6-4D55-9AEA-02B1183C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955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Gesture Arm calibration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E8910-466B-45C9-B0E8-0B937DCD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098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 calibration script for a gesture-controlled robotic arm.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3A1778-2670-4675-940D-3A3683EF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D3EDB-3CD4-42DF-87DF-232BBE70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6E8AEB-F109-4CD3-81B5-473B8A18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622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Huey Yun Optimizer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8D2EE-8F2A-4ADA-BDC1-19ABFCEF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766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 local EEG application with EDF reading, signal analysis, plots, reports and a web interface.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18503C-158C-4DC4-AA2C-21561581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C48959-2C35-40A3-B88E-1B8D940A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5D883-1271-48E6-BDDF-41B6229E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Business analytics study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DF9771-F646-4B73-B923-90DBE230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4337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 descriptive analytics and multiple-linear-regression study using coffee-sales and accommodation datasets.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0E01C8-650D-44D7-B52D-F30C3427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EC8346-F326-4372-853E-4E6516CC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8C2668-62C3-4CCF-B0FF-D6BA2648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958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KitaHack working build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6EE3D1-3070-4D12-BB8C-7E2A05B6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101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 computer-vision and speech-assisted engineering helper that identifies objects and their material from a live camera feed.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77A737-B1D1-41F5-B609-A2C6526D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768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35B8A3-A586-4BB4-AF19-8FC92114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1B5C20-B572-414C-802E-E56E8247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626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SDS document-processing suite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FAC2CB-0123-4718-BD48-4483AF7E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769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 set of tools for chemical inventory scraping, safety-data translation and document processing.</a:t>
            </a:r>
          </a:p>
        </p:txBody>
      </p:sp>
    </p:spTree>
    <p:extLst>
      <p:ext uri="{BB962C8B-B14F-4D97-AF65-F5344CB8AC3E}">
        <p14:creationId xmlns:p14="http://schemas.microsoft.com/office/powerpoint/2010/main" val="14927301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FB3AAC-A512-4861-9AB7-E8F2EA07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0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B5AF0-B119-40BB-A462-B2C3424C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ACADEMIC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486E4-373D-4135-B927-E11DA35F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633"/>
                </a:solidFill>
              </a:defRPr>
            </a:pPr>
            <a:r>
              <a:rPr sz="2850" b="1">
                <a:solidFill>
                  <a:srgbClr val="182633"/>
                </a:solidFill>
              </a:rPr>
              <a:t>Academic work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0E2C6-A6F6-4EEE-BAB5-D47F78E3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2516D-8617-420E-8045-372AAD11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810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1717C"/>
                </a:solidFill>
              </a:defRPr>
            </a:pPr>
            <a:r>
              <a:rPr sz="750" b="1">
                <a:solidFill>
                  <a:srgbClr val="61717C"/>
                </a:solidFill>
              </a:rPr>
              <a:t>PORTFOLIO SERIES  / 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37136-ECA1-4C34-86EB-8816852F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80DEA-BF06-4058-B83E-24DBA3CE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955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Y1 S2 Basic Electronics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0FDD8-8925-46C5-9E52-22DE6A40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098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FET and operational-amplifier theory and practical study.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08B3E-C020-444E-9D2D-2E8549AE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B388BE-56E1-4BB1-BC2B-4CBBEB5F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5BE8D-F567-48DD-A848-D4A8DF68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622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Y1 S2 Circuit 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445DB-4D8A-4628-B5A3-F82E0730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766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Mesh-analysis and bridge-network breadboard experiments with gear CAD 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E49AB-86A4-4966-9928-269D9D56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E0C79B-7F6F-4A52-ACB2-176717B6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9CE717-9BFD-44D5-A27F-080F1D71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Y1 S2 Mathematics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CD7D6C-651E-4B7C-9E27-FB379ED5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4337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 heat-conduction study based on Fourier’s law.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C53A9D-9FC8-46C7-8B6E-2DDB61AB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8172A3-0156-4D73-9369-C848EE69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654468-C6EB-4018-9F6E-42C6154B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958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Y1 S2 Programming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771E18-2B2F-4152-8942-CEC718D2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101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C/C++ exercises covering file handling, logic gates and a framework program.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1AFA45-0BF4-4192-8EF3-7D757D8F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768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9B83BC-C90B-4406-9F16-990609AC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D97F04-8298-4731-8400-8BE563AF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626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Y1 S3 Law for Engineers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B8BD34-F689-4F8C-8141-A31BA025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769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An intellectual-property assignment comparing patents and copyright.</a:t>
            </a:r>
          </a:p>
        </p:txBody>
      </p:sp>
    </p:spTree>
    <p:extLst>
      <p:ext uri="{BB962C8B-B14F-4D97-AF65-F5344CB8AC3E}">
        <p14:creationId xmlns:p14="http://schemas.microsoft.com/office/powerpoint/2010/main" val="15328903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3BB447-1B7C-4470-9962-1127E8A5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0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92AD0-11AB-4E47-BEEB-D05670FA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ACADEMIC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BD267-D2B1-4D72-9887-96BD6209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633"/>
                </a:solidFill>
              </a:defRPr>
            </a:pPr>
            <a:r>
              <a:rPr sz="2850" b="1">
                <a:solidFill>
                  <a:srgbClr val="182633"/>
                </a:solidFill>
              </a:rPr>
              <a:t>Academic work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131B2-3802-46E5-8E60-E082BDDC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23EC4-2529-4FB6-8BB4-D5264F80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810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1717C"/>
                </a:solidFill>
              </a:defRPr>
            </a:pPr>
            <a:r>
              <a:rPr sz="750" b="1">
                <a:solidFill>
                  <a:srgbClr val="61717C"/>
                </a:solidFill>
              </a:rPr>
              <a:t>PORTFOLIO SERIES  / 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11DDC-704C-487F-83AC-C4431635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5E69E-26CF-427E-83A8-AD30CBA7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955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Y1 S3 Electrical Machines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1CF76-DB15-4096-AC9C-56AEAAF7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098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Transmission-line and transformer simulations using selected cable specifications.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4FAD5-33E8-4E47-B29F-7B2EF06B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35A975-9EAE-42B8-963A-27E92AA1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E3933-15BD-42BE-8CAE-9D433A31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622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Y1 S3 Oral Communication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6A5ED-95A4-4E4E-BB28-F809A665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766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 communication-event reflection and presentation record.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490F3F-0C7A-4ACF-B86F-1FBB5EE5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3C6A8-BC7C-4938-BC66-6DEBA10C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1DACEF-272F-493C-9107-2A166A92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Y2 S1 Analogue Electronics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2E5AA5-908A-471E-A081-14E275DB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4337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Class-A follower and clipping-circuit design work.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297DA1-4DF5-46B6-BF93-2CE0D361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4171FA-541B-4000-9581-ED3CD070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09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91F221-21EB-4AD3-B0CD-0E8FD09A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958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Y2 S1 English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D893B4-B005-4863-A5F4-47D6DBB2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101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 cybernetics and robotics presentation on sensing, planning and action.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CA04EC-EF93-4239-B1A7-0E354C70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768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70E6A3-AE28-4FD6-A5FC-2FC8392F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417A21-C863-4C30-9F50-066AEA3C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626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Y2 S1 IC Design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44BAA3-E9A1-4310-AA22-573CB224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769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FET and MOS circuit-design study materials.</a:t>
            </a:r>
          </a:p>
        </p:txBody>
      </p:sp>
    </p:spTree>
    <p:extLst>
      <p:ext uri="{BB962C8B-B14F-4D97-AF65-F5344CB8AC3E}">
        <p14:creationId xmlns:p14="http://schemas.microsoft.com/office/powerpoint/2010/main" val="5144200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7AFB6B-4C04-4B4D-BD8D-58615950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0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108C2-042B-466C-895C-C6F8AF2A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ACADEMIC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D8E69-70C9-4034-BFB2-464F5B01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633"/>
                </a:solidFill>
              </a:defRPr>
            </a:pPr>
            <a:r>
              <a:rPr sz="2850" b="1">
                <a:solidFill>
                  <a:srgbClr val="182633"/>
                </a:solidFill>
              </a:rPr>
              <a:t>Academic work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6D7C7-0AC2-434B-8AD2-3DA8DA71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31215-64D1-4216-A666-FB19DBB6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810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1717C"/>
                </a:solidFill>
              </a:defRPr>
            </a:pPr>
            <a:r>
              <a:rPr sz="750" b="1">
                <a:solidFill>
                  <a:srgbClr val="61717C"/>
                </a:solidFill>
              </a:rPr>
              <a:t>PORTFOLIO SERIES  / 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9677A-6536-4FD3-A72F-CD00ED95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B2E49D-47FF-49E8-A6A2-130AA551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955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Y2 S1 Mathematics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3AC1A-9131-4627-A826-353FA26F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098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Mathematics coursework record.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03CF2-ED6D-4926-AA3E-F3309AC1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EDCBF-9D9B-47DD-B7B5-2D8C6394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F7D686-64A9-403F-918C-81D7158D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622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Y2 S1 Signals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8649A-B11D-4DD0-BEBA-D4D47EDE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766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Communication-laboratory work using resistor and capacitor circuits.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229909-43E6-489D-AD02-E1EF4ECE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ADB1B5-C3D3-4D49-B3F1-AB713E34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CA6568-241B-4C55-96E0-9934A00B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Y2 S2 Analogue Electronics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8EB398-40A6-45FA-AAF0-F9608CCD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4337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An audio-link assignment using amplitude modulation transmission.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EC38B6-D50C-494D-9409-035B8DBC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65294B-7E96-432F-8D68-DF43B3EA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B2107A-0FF2-4119-888B-8F552B72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958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Y2 S2 Digital System Design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90541D-DDCA-48E7-BFB3-EC5EC2CA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101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Karnaugh-map simplification and D flip-flop behavioural-code work.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EF41A-81B2-4A80-B01A-AAC0D3B9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768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0D2996-3027-458E-95CA-057ABDB2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E48FA9-5042-4738-8090-F93510E3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626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Y2 S2 Industrial Engineering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FB3353-DC42-472B-8D5D-546ED80C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769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 programming comparison between vectorised linspace methods and loop-based methods.</a:t>
            </a:r>
          </a:p>
        </p:txBody>
      </p:sp>
    </p:spTree>
    <p:extLst>
      <p:ext uri="{BB962C8B-B14F-4D97-AF65-F5344CB8AC3E}">
        <p14:creationId xmlns:p14="http://schemas.microsoft.com/office/powerpoint/2010/main" val="8921530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DC9027-8BF8-4A82-823A-3FE6C7B4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0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04794-9B76-4271-8858-7BD27FFC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ACADEMIC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97B14-3041-417F-A54C-54A91DA4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633"/>
                </a:solidFill>
              </a:defRPr>
            </a:pPr>
            <a:r>
              <a:rPr sz="2850" b="1">
                <a:solidFill>
                  <a:srgbClr val="182633"/>
                </a:solidFill>
              </a:rPr>
              <a:t>Academic work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CD808-29E1-4687-AD78-F1C76E5B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9AFF5-FF90-44C4-8CFE-6E06F5E1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810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1717C"/>
                </a:solidFill>
              </a:defRPr>
            </a:pPr>
            <a:r>
              <a:rPr sz="750" b="1">
                <a:solidFill>
                  <a:srgbClr val="61717C"/>
                </a:solidFill>
              </a:rPr>
              <a:t>PORTFOLIO SERIES  / 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6992C-7913-45BE-BB06-26C8076E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388AF-4547-4327-A987-66FEDB6F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955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Y2 S2 Microprocessor and Microcontroller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87756-B876-4480-83A6-A380A8C8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098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8051 assembly and microcontroller-system exercises.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67366B-F348-452C-AB83-0667498A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070B5-C147-4F47-AF12-14C30E8E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B3B4FD-F0BB-4773-B97B-48B09D03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622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Y2 S2 Numerical Methods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B3BA3E-E43E-43FF-9068-361429AF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766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Spreadsheet-based numerical-method coursework.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E4C8B2-BB6B-4E2F-A647-86813DDA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A7B168-E776-4CFB-A1B1-F87A6241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C870B1-5BD1-4E81-87D6-B9F3A081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Y2 S3 Electromagnetics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445E5-0439-4D8B-8745-E47B34FC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4337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 split-ring-resonator design centred around 1.9 GHz.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D81686-E61D-4B76-9969-320A0EF9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7916CB-0838-48C0-9DF4-6BD9C70A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19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399C33-DAD8-4A7E-9901-782B8680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958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Y2 S3 Signals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FFEF89-7DFE-405D-B0F5-673A0A47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101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Transmission-channel experiments for a communication-systems laboratory.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E643CA-5D29-4FE5-8C2D-E3487BDF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768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9DD591-35D1-4CEA-8BA0-E1F55DAF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20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FAE3F0-CA06-4C54-9B72-3F4667BA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626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Y3 S1 ASIC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33278F-D4BF-4FC5-A625-6CC9DA0C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769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An 8-bit full-adder module design.</a:t>
            </a:r>
          </a:p>
        </p:txBody>
      </p:sp>
    </p:spTree>
    <p:extLst>
      <p:ext uri="{BB962C8B-B14F-4D97-AF65-F5344CB8AC3E}">
        <p14:creationId xmlns:p14="http://schemas.microsoft.com/office/powerpoint/2010/main" val="3840149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7988A1-53A0-48F7-A2FA-EA6DE24C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0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3721C-9B2D-4416-AC34-CFCCC9B3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ACADEMIC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DC1FF-FFB3-4F28-883E-815C6489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633"/>
                </a:solidFill>
              </a:defRPr>
            </a:pPr>
            <a:r>
              <a:rPr sz="2850" b="1">
                <a:solidFill>
                  <a:srgbClr val="182633"/>
                </a:solidFill>
              </a:rPr>
              <a:t>Academic work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4F4F2-0B00-4148-A91E-0AB9C8D3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54790-98DE-4A68-9500-8B3F4FD0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810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1717C"/>
                </a:solidFill>
              </a:defRPr>
            </a:pPr>
            <a:r>
              <a:rPr sz="750" b="1">
                <a:solidFill>
                  <a:srgbClr val="61717C"/>
                </a:solidFill>
              </a:rPr>
              <a:t>PORTFOLIO SERIES  / 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C1348-0BA2-4890-9109-20DF75D2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13A6E-4B64-4EBF-A18A-9B80FE68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955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Y3 S1 CMOS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70323-5B00-4515-B3AA-76FE116F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098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CMOS transistor operating-region analysis and laboratory work.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AB6AA3-1BD8-4743-A0B2-5168581B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C0E6F-8A5D-420D-9147-74C7E395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AB4B21-785F-4191-B3B6-B1CCA2F6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622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Y3 S1 Energy in Society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22B767-C08A-4D9B-BB0C-07FE0029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766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An electric-vehicle project presentation.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8EAD04-8C03-491C-A273-37080031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A82AA4-5FAD-4B56-ADC2-B3242635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23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D023F3-896A-4E07-A24B-6E3D38CC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Y3 S1 Process 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8027B-2E4E-430E-A389-3EB2655C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4337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An ON/OFF controller using op-amp thresholds and LED indication.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B7F5AB-B0FB-4C19-8ABD-277E963B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4DCDA1-4966-413E-9AA0-87FBB229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18D624-28F8-417C-B856-BCE7636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958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Y3 S1 Project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CDEDB8-3DD4-46C7-ABFE-F96D3A7A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101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 water-pollution filtration project plan.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BB8C41-7C3C-4A82-93C8-4437C0C1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768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A0A428-94CE-4FCB-9138-E5326C6C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5B8BAF-24CD-47EA-85D0-650424D1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626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Y3 S2 Control Systems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1E3378-AC6F-4E5E-B52B-3D29F049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769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Transfer-function analysis and lead-compensator design.</a:t>
            </a:r>
          </a:p>
        </p:txBody>
      </p:sp>
    </p:spTree>
    <p:extLst>
      <p:ext uri="{BB962C8B-B14F-4D97-AF65-F5344CB8AC3E}">
        <p14:creationId xmlns:p14="http://schemas.microsoft.com/office/powerpoint/2010/main" val="12456130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F1F9BC-E19E-4F97-83F1-B178E333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0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DF3BC-8625-4E8D-8F5D-2BDF888C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ACADEMIC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1723A-C641-4630-A16F-B97860D6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633"/>
                </a:solidFill>
              </a:defRPr>
            </a:pPr>
            <a:r>
              <a:rPr sz="2850" b="1">
                <a:solidFill>
                  <a:srgbClr val="182633"/>
                </a:solidFill>
              </a:rPr>
              <a:t>Academic work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506D9-6A6B-408B-A41C-77BC1BE6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CE3F2-3763-46BC-A573-FCAC77FB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810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1717C"/>
                </a:solidFill>
              </a:defRPr>
            </a:pPr>
            <a:r>
              <a:rPr sz="750" b="1">
                <a:solidFill>
                  <a:srgbClr val="61717C"/>
                </a:solidFill>
              </a:rPr>
              <a:t>PORTFOLIO SERIES  / 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24D9B-31BE-4AC6-BF24-CEA2A4F7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848C5-5040-4E4F-8FC5-35131B35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955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Y3 S2 Digital Media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B2D87-34D9-4BA9-B8A7-31EA4DC8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098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A campus creative project built around the Ctrl+Z concept.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AA6423-BB3F-4BB5-80A1-FBFA02D9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C62DFB-A47F-4B3F-A2A0-00EC6681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37DBDA-9B3B-4046-9079-B5B1932A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622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Y3 S2 Power Electronics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9B30F2-FC6C-4C63-9C5F-5A85E494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766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Power-electronics and electrical-drive laboratory 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15B4F0-6182-40B1-B908-E2C9AB81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DFCF3-0E92-4CAD-AB88-669CD1AE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A31573-18CF-40C5-A10A-4E53FEEC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Y3 S2 Personal Finance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3E2336-DD79-493D-A87E-441EBA17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4337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Personal-finance planning coursework.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59876C-7FAB-4D53-9520-65FE00F9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3D08DF-F843-4C62-83C1-2EDBAE0C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29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1C2DD7-9A68-4E37-A933-A110B784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958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Y3 S2 Sustainable Energy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3915DD-9EE0-43D7-BFBE-191B90C2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101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Photovoltaic-cell and solar-energy conversion coursework.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FAE2E2-13CE-403A-9E98-FB3FC59A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768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C8601B-98A7-4572-AC99-A1BCEA98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30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254E03-EF71-4611-87F8-9D8FC144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626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Y3 S3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6710F3-10EC-48CA-B457-846C2E32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769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Engineering parameter and test-data work.</a:t>
            </a:r>
          </a:p>
        </p:txBody>
      </p:sp>
    </p:spTree>
    <p:extLst>
      <p:ext uri="{BB962C8B-B14F-4D97-AF65-F5344CB8AC3E}">
        <p14:creationId xmlns:p14="http://schemas.microsoft.com/office/powerpoint/2010/main" val="13205732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69AD28-7E2B-43BB-90A1-3FA859E9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0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F4779-1578-4A59-A815-DE42B217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ACADEMIC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84B72-30B3-4F5A-AD88-47529ADF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633"/>
                </a:solidFill>
              </a:defRPr>
            </a:pPr>
            <a:r>
              <a:rPr sz="2850" b="1">
                <a:solidFill>
                  <a:srgbClr val="182633"/>
                </a:solidFill>
              </a:rPr>
              <a:t>Academic work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ADD01-BE3E-4ADA-867F-C4FB6078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39850-1BA6-4E72-AA29-015E9254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810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1717C"/>
                </a:solidFill>
              </a:defRPr>
            </a:pPr>
            <a:r>
              <a:rPr sz="750" b="1">
                <a:solidFill>
                  <a:srgbClr val="61717C"/>
                </a:solidFill>
              </a:rPr>
              <a:t>PORTFOLIO SERIES  / 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E993C-F2BF-472A-ABA8-4D78A361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012AE-669C-4DD3-82FD-0DB0AEB2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955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Y3 S3 R-Arm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F6627-509A-4EA6-8B47-6FB35278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098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Robotic-arm CAD with gear and gripper components.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8809B-8561-4F1B-90D6-1600E5CD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51AA2-C323-45AA-ACFF-42F39696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32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7D1D7F-00E6-49C3-A9B5-1D10C956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622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Y3 S3 Internship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FA6A40-F084-4DE3-BABA-239A8668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766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Internship engineering documentation.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D12530-8C18-4BB7-8779-0E6FFE4C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E4365D-B861-4C3F-951F-A91710EF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33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08295-2F53-44C3-816B-7C55C223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Y3 S3 TENG sensor logbook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91ABAD-403D-406B-B5F0-73D92EFB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4337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Triboelectric nanogenerator sensor-development records.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B19F4E-4CF4-4BF7-A703-95A865E2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BA3761-0475-4006-9FCA-11DF4EC7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34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A0FFE0-8B81-4B38-9C97-1C29FA2A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958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Y3 S3 TENG and arm plans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AEAB5A-5C6B-4FD4-9AE6-F5A662CB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101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Sensor-development planning with later robotic-arm notes.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E8DB5D-F420-4A0F-98CB-5598546A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768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935182-C0F1-41F7-AFF1-3AF1FED1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35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A4E54E-91BF-40D2-AC85-D6D62A5F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626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Y4 S1 Digital Signal Design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EB3EB8-C9D7-4E73-8E43-6E9CC453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769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FIR, IIR and Chebyshev-II low-pass-filter design.</a:t>
            </a:r>
          </a:p>
        </p:txBody>
      </p:sp>
    </p:spTree>
    <p:extLst>
      <p:ext uri="{BB962C8B-B14F-4D97-AF65-F5344CB8AC3E}">
        <p14:creationId xmlns:p14="http://schemas.microsoft.com/office/powerpoint/2010/main" val="19646939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20C8B9-DF28-421F-99D2-A1C6CE5E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0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DADFF-974B-4A12-A9A0-1ED3C648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ACADEMIC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A87EA-9ECF-4B44-A208-CDBD310E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633"/>
                </a:solidFill>
              </a:defRPr>
            </a:pPr>
            <a:r>
              <a:rPr sz="2850" b="1">
                <a:solidFill>
                  <a:srgbClr val="182633"/>
                </a:solidFill>
              </a:rPr>
              <a:t>Academic work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B21D4-2AFB-4D57-AE13-38FEB8A2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C9D86-02E0-4A2F-B687-133D9FA6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810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1717C"/>
                </a:solidFill>
              </a:defRPr>
            </a:pPr>
            <a:r>
              <a:rPr sz="750" b="1">
                <a:solidFill>
                  <a:srgbClr val="61717C"/>
                </a:solidFill>
              </a:rPr>
              <a:t>PORTFOLIO SERIES  / 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673AC-BDC2-44EA-B7F5-50B64D3B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75B3A-3E95-4C8E-BB3D-A4B1C815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955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Y4 S1 Electronic System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61D2C-0851-4DD9-8E85-254FDD6D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098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CAD blueprints for bin supports, chamber connections and compartment bins.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35C68-A5C0-4E24-802B-C5725F2A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44F00-32EF-40E8-B0BD-89E7D775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37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6B6BC-9D5E-4429-8073-FFB8BB67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622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Y4 S1 Falsafah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EEBD0-84C9-4BB4-81E3-7348C803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766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Ethics and well-being coursework.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78EFC-0741-40EF-BAFA-4C2243E0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F2A3EC-090C-4908-A89A-D16623A8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8938"/>
                </a:solidFill>
              </a:defRPr>
            </a:pPr>
            <a:r>
              <a:rPr sz="1125" b="1">
                <a:solidFill>
                  <a:srgbClr val="C88938"/>
                </a:solidFill>
              </a:rPr>
              <a:t>38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36B4CA-726B-4E10-9DD3-2DA7B03D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Y4 S2 Image Processing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965DB1-42BF-42CD-8552-5F475A6A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4337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Image and pixel-manipulation laboratory exercises.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A713A9-3EB3-4FDC-AEEA-D4676BFD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050692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2026-08-27T02:23:02.4300000Z</dcterms:created>
  <dcterms:modified xsi:type="dcterms:W3CDTF">2026-08-27T02:23:02.4300000Z</dcterms:modified>
</coreProperties>
</file>