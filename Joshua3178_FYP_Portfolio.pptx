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676d71d9e49d5" /><Relationship Type="http://schemas.openxmlformats.org/officeDocument/2006/relationships/extended-properties" Target="/docProps/app.xml" Id="R3d8d39b4fa694ac7" /><Relationship Type="http://schemas.openxmlformats.org/officeDocument/2006/relationships/officeDocument" Target="/ppt/presentation.xml" Id="Rb736e954fd4d43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267d4fa6d4e2d"/>
  </p:sldMasterIdLst>
  <p:notesMasterIdLst>
    <p:notesMasterId xmlns:r="http://schemas.openxmlformats.org/officeDocument/2006/relationships" r:id="R9e300eeddeae4ecd"/>
  </p:notesMasterIdLst>
  <p:sldIdLst>
    <p:sldId xmlns:r="http://schemas.openxmlformats.org/officeDocument/2006/relationships" id="256" r:id="Rb8d5e757b99e4440"/>
    <p:sldId xmlns:r="http://schemas.openxmlformats.org/officeDocument/2006/relationships" id="257" r:id="R67564d72c57f4b27"/>
    <p:sldId xmlns:r="http://schemas.openxmlformats.org/officeDocument/2006/relationships" id="258" r:id="R392d18a6baed4d7b"/>
    <p:sldId xmlns:r="http://schemas.openxmlformats.org/officeDocument/2006/relationships" id="259" r:id="R3dccc6e3f08e4dc8"/>
    <p:sldId xmlns:r="http://schemas.openxmlformats.org/officeDocument/2006/relationships" id="260" r:id="Rb266e80e18b346fb"/>
    <p:sldId xmlns:r="http://schemas.openxmlformats.org/officeDocument/2006/relationships" id="261" r:id="Rac26fb1358834dab"/>
    <p:sldId xmlns:r="http://schemas.openxmlformats.org/officeDocument/2006/relationships" id="262" r:id="Rdb50f94560984623"/>
    <p:sldId xmlns:r="http://schemas.openxmlformats.org/officeDocument/2006/relationships" id="263" r:id="R38d103843501429e"/>
    <p:sldId xmlns:r="http://schemas.openxmlformats.org/officeDocument/2006/relationships" id="264" r:id="Re42790e846d1430a"/>
    <p:sldId xmlns:r="http://schemas.openxmlformats.org/officeDocument/2006/relationships" id="265" r:id="R4395a913f04a4210"/>
    <p:sldId xmlns:r="http://schemas.openxmlformats.org/officeDocument/2006/relationships" id="266" r:id="R1541134736a34ad4"/>
    <p:sldId xmlns:r="http://schemas.openxmlformats.org/officeDocument/2006/relationships" id="267" r:id="R953b4c0ecffa41c3"/>
    <p:sldId xmlns:r="http://schemas.openxmlformats.org/officeDocument/2006/relationships" id="268" r:id="Rdfd56942477849d6"/>
    <p:sldId xmlns:r="http://schemas.openxmlformats.org/officeDocument/2006/relationships" id="269" r:id="R70980c49d6c049b9"/>
    <p:sldId xmlns:r="http://schemas.openxmlformats.org/officeDocument/2006/relationships" id="270" r:id="Re339213c97b3499f"/>
    <p:sldId xmlns:r="http://schemas.openxmlformats.org/officeDocument/2006/relationships" id="271" r:id="R0d8bf32ea6e049a5"/>
    <p:sldId xmlns:r="http://schemas.openxmlformats.org/officeDocument/2006/relationships" id="272" r:id="R62e4c9c21f124097"/>
    <p:sldId xmlns:r="http://schemas.openxmlformats.org/officeDocument/2006/relationships" id="273" r:id="R42c68fc7512549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e8754367249b9" /><Relationship Type="http://schemas.openxmlformats.org/officeDocument/2006/relationships/slideMaster" Target="/ppt/slideMasters/slideMaster1.xml" Id="R378267d4fa6d4e2d" /><Relationship Type="http://schemas.openxmlformats.org/officeDocument/2006/relationships/notesMaster" Target="/ppt/notesMasters/notesMaster1.xml" Id="R9e300eeddeae4ecd" /><Relationship Type="http://schemas.openxmlformats.org/officeDocument/2006/relationships/presProps" Target="/ppt/presProps.xml" Id="R9b8458a7b3a54834" /><Relationship Type="http://schemas.openxmlformats.org/officeDocument/2006/relationships/tableStyles" Target="/ppt/tableStyles.xml" Id="R459accadb44c423e" /><Relationship Type="http://schemas.openxmlformats.org/officeDocument/2006/relationships/slide" Target="/ppt/slides/slide1.xml" Id="Rb8d5e757b99e4440" /><Relationship Type="http://schemas.openxmlformats.org/officeDocument/2006/relationships/slide" Target="/ppt/slides/slide2.xml" Id="R67564d72c57f4b27" /><Relationship Type="http://schemas.openxmlformats.org/officeDocument/2006/relationships/slide" Target="/ppt/slides/slide3.xml" Id="R392d18a6baed4d7b" /><Relationship Type="http://schemas.openxmlformats.org/officeDocument/2006/relationships/slide" Target="/ppt/slides/slide4.xml" Id="R3dccc6e3f08e4dc8" /><Relationship Type="http://schemas.openxmlformats.org/officeDocument/2006/relationships/slide" Target="/ppt/slides/slide5.xml" Id="Rb266e80e18b346fb" /><Relationship Type="http://schemas.openxmlformats.org/officeDocument/2006/relationships/slide" Target="/ppt/slides/slide6.xml" Id="Rac26fb1358834dab" /><Relationship Type="http://schemas.openxmlformats.org/officeDocument/2006/relationships/slide" Target="/ppt/slides/slide7.xml" Id="Rdb50f94560984623" /><Relationship Type="http://schemas.openxmlformats.org/officeDocument/2006/relationships/slide" Target="/ppt/slides/slide8.xml" Id="R38d103843501429e" /><Relationship Type="http://schemas.openxmlformats.org/officeDocument/2006/relationships/slide" Target="/ppt/slides/slide9.xml" Id="Re42790e846d1430a" /><Relationship Type="http://schemas.openxmlformats.org/officeDocument/2006/relationships/slide" Target="/ppt/slides/slide10.xml" Id="R4395a913f04a4210" /><Relationship Type="http://schemas.openxmlformats.org/officeDocument/2006/relationships/slide" Target="/ppt/slides/slide11.xml" Id="R1541134736a34ad4" /><Relationship Type="http://schemas.openxmlformats.org/officeDocument/2006/relationships/slide" Target="/ppt/slides/slide12.xml" Id="R953b4c0ecffa41c3" /><Relationship Type="http://schemas.openxmlformats.org/officeDocument/2006/relationships/slide" Target="/ppt/slides/slide13.xml" Id="Rdfd56942477849d6" /><Relationship Type="http://schemas.openxmlformats.org/officeDocument/2006/relationships/slide" Target="/ppt/slides/slide14.xml" Id="R70980c49d6c049b9" /><Relationship Type="http://schemas.openxmlformats.org/officeDocument/2006/relationships/slide" Target="/ppt/slides/slide15.xml" Id="Re339213c97b3499f" /><Relationship Type="http://schemas.openxmlformats.org/officeDocument/2006/relationships/slide" Target="/ppt/slides/slide16.xml" Id="R0d8bf32ea6e049a5" /><Relationship Type="http://schemas.openxmlformats.org/officeDocument/2006/relationships/slide" Target="/ppt/slides/slide17.xml" Id="R62e4c9c21f124097" /><Relationship Type="http://schemas.openxmlformats.org/officeDocument/2006/relationships/slide" Target="/ppt/slides/slide18.xml" Id="R42c68fc75125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dc25f7a28e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855bcf12174fb1" /><Relationship Type="http://schemas.openxmlformats.org/officeDocument/2006/relationships/notesMaster" Target="/ppt/notesMasters/notesMaster1.xml" Id="R15275c0adf5643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e5958ea1e3468c" /><Relationship Type="http://schemas.openxmlformats.org/officeDocument/2006/relationships/notesMaster" Target="/ppt/notesMasters/notesMaster1.xml" Id="Ra2252dbafdb4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fe8b673cef4db7" /><Relationship Type="http://schemas.openxmlformats.org/officeDocument/2006/relationships/notesMaster" Target="/ppt/notesMasters/notesMaster1.xml" Id="R46a9394b9343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93115fb0104f2d" /><Relationship Type="http://schemas.openxmlformats.org/officeDocument/2006/relationships/notesMaster" Target="/ppt/notesMasters/notesMaster1.xml" Id="R970f6aed5efa42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2e193cd1e5421a" /><Relationship Type="http://schemas.openxmlformats.org/officeDocument/2006/relationships/notesMaster" Target="/ppt/notesMasters/notesMaster1.xml" Id="R99ca1a53c33c4d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0e5df73a2546aa" /><Relationship Type="http://schemas.openxmlformats.org/officeDocument/2006/relationships/notesMaster" Target="/ppt/notesMasters/notesMaster1.xml" Id="R097a2a3b03094b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8c7f40baa9416c" /><Relationship Type="http://schemas.openxmlformats.org/officeDocument/2006/relationships/notesMaster" Target="/ppt/notesMasters/notesMaster1.xml" Id="R9c5450d4cf1d43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40cdf5470c45b5" /><Relationship Type="http://schemas.openxmlformats.org/officeDocument/2006/relationships/notesMaster" Target="/ppt/notesMasters/notesMaster1.xml" Id="R18eae183f7d047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5e03e99b9b431e" /><Relationship Type="http://schemas.openxmlformats.org/officeDocument/2006/relationships/notesMaster" Target="/ppt/notesMasters/notesMaster1.xml" Id="R23cd3dcce5f54c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33a00694914884" /><Relationship Type="http://schemas.openxmlformats.org/officeDocument/2006/relationships/notesMaster" Target="/ppt/notesMasters/notesMaster1.xml" Id="Rbc353ddd744b4e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c0bbe115ee478d" /><Relationship Type="http://schemas.openxmlformats.org/officeDocument/2006/relationships/notesMaster" Target="/ppt/notesMasters/notesMaster1.xml" Id="R0bbbb5e81af54b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d9696b244e4e66" /><Relationship Type="http://schemas.openxmlformats.org/officeDocument/2006/relationships/notesMaster" Target="/ppt/notesMasters/notesMaster1.xml" Id="Rf284db169d9048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fa66ecc35f4008" /><Relationship Type="http://schemas.openxmlformats.org/officeDocument/2006/relationships/notesMaster" Target="/ppt/notesMasters/notesMaster1.xml" Id="R4e8f20273aa547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cd734322b74972" /><Relationship Type="http://schemas.openxmlformats.org/officeDocument/2006/relationships/notesMaster" Target="/ppt/notesMasters/notesMaster1.xml" Id="R94a43ab362ae41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c5b63910fa44c3" /><Relationship Type="http://schemas.openxmlformats.org/officeDocument/2006/relationships/notesMaster" Target="/ppt/notesMasters/notesMaster1.xml" Id="Ra8a5fcce34a24d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a1f64fd416420d" /><Relationship Type="http://schemas.openxmlformats.org/officeDocument/2006/relationships/notesMaster" Target="/ppt/notesMasters/notesMaster1.xml" Id="R095cb861e4f54a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8a8eaaa2d643c9" /><Relationship Type="http://schemas.openxmlformats.org/officeDocument/2006/relationships/notesMaster" Target="/ppt/notesMasters/notesMaster1.xml" Id="R79bae3d5305345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0faf82ee4847a4" /><Relationship Type="http://schemas.openxmlformats.org/officeDocument/2006/relationships/notesMaster" Target="/ppt/notesMasters/notesMaster1.xml" Id="Reec1e86fdfcd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07eb1fb64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c6c6be8a145a3" /><Relationship Type="http://schemas.openxmlformats.org/officeDocument/2006/relationships/slideLayout" Target="/ppt/slideLayouts/slideLayout1.xml" Id="R6faa2055de6447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aa2055de6447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7a4576b3e4fcb" /><Relationship Type="http://schemas.openxmlformats.org/officeDocument/2006/relationships/notesSlide" Target="/ppt/notesSlides/notesSlide1.xml" Id="Ra5616e9304ba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a99cb8aa64589" /><Relationship Type="http://schemas.openxmlformats.org/officeDocument/2006/relationships/notesSlide" Target="/ppt/notesSlides/notesSlide2.xml" Id="Rf7c1be09234a4c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94caf9f674d14" /><Relationship Type="http://schemas.openxmlformats.org/officeDocument/2006/relationships/notesSlide" Target="/ppt/notesSlides/notesSlide3.xml" Id="Rab3ad1a5541745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d8431cabd4825" /><Relationship Type="http://schemas.openxmlformats.org/officeDocument/2006/relationships/notesSlide" Target="/ppt/notesSlides/notesSlide4.xml" Id="Rf9bea912c47e4b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3f7b640d24b12" /><Relationship Type="http://schemas.openxmlformats.org/officeDocument/2006/relationships/notesSlide" Target="/ppt/notesSlides/notesSlide5.xml" Id="R5c2a0232d0db4d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77e1acb0645b2" /><Relationship Type="http://schemas.openxmlformats.org/officeDocument/2006/relationships/notesSlide" Target="/ppt/notesSlides/notesSlide6.xml" Id="Rbd50f5ca402847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dd6037114aed" /><Relationship Type="http://schemas.openxmlformats.org/officeDocument/2006/relationships/notesSlide" Target="/ppt/notesSlides/notesSlide7.xml" Id="R3d763e40194749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b9ed556584917" /><Relationship Type="http://schemas.openxmlformats.org/officeDocument/2006/relationships/notesSlide" Target="/ppt/notesSlides/notesSlide8.xml" Id="R6a142d2f509b41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9ffdca6e24146" /><Relationship Type="http://schemas.openxmlformats.org/officeDocument/2006/relationships/notesSlide" Target="/ppt/notesSlides/notesSlide9.xml" Id="Rf7b3d3e33e9343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9c25f1ac744a4" /><Relationship Type="http://schemas.openxmlformats.org/officeDocument/2006/relationships/notesSlide" Target="/ppt/notesSlides/notesSlide10.xml" Id="R190b33827e2d4a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15eff474d44b1" /><Relationship Type="http://schemas.openxmlformats.org/officeDocument/2006/relationships/notesSlide" Target="/ppt/notesSlides/notesSlide11.xml" Id="Rd17306c0d0854b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a685ec58349dd" /><Relationship Type="http://schemas.openxmlformats.org/officeDocument/2006/relationships/notesSlide" Target="/ppt/notesSlides/notesSlide12.xml" Id="R4fc6a7eaa41843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762c82f8e4678" /><Relationship Type="http://schemas.openxmlformats.org/officeDocument/2006/relationships/notesSlide" Target="/ppt/notesSlides/notesSlide13.xml" Id="Rbd1620ff69a143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79faa2cf34fee" /><Relationship Type="http://schemas.openxmlformats.org/officeDocument/2006/relationships/notesSlide" Target="/ppt/notesSlides/notesSlide14.xml" Id="R6811ee8c1bc443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bc045d3fc40c9" /><Relationship Type="http://schemas.openxmlformats.org/officeDocument/2006/relationships/notesSlide" Target="/ppt/notesSlides/notesSlide15.xml" Id="Rd788293d0d934a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a94876ccc4b6a" /><Relationship Type="http://schemas.openxmlformats.org/officeDocument/2006/relationships/notesSlide" Target="/ppt/notesSlides/notesSlide16.xml" Id="Rb16d40c284a543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fad76d6d744c2" /><Relationship Type="http://schemas.openxmlformats.org/officeDocument/2006/relationships/notesSlide" Target="/ppt/notesSlides/notesSlide17.xml" Id="R4bbb58d4e8f840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217e9054541c4" /><Relationship Type="http://schemas.openxmlformats.org/officeDocument/2006/relationships/notesSlide" Target="/ppt/notesSlides/notesSlide18.xml" Id="R3ad293ec728b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F1C56-6453-420C-B0B5-10C505E7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33B"/>
          </a:solidFill>
          <a:ln xmlns:a="http://schemas.openxmlformats.org/drawingml/2006/main" w="9525">
            <a:solidFill>
              <a:srgbClr val="1123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531E5-D37C-4145-8AFC-AB40D915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828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92F91-9684-41CC-BA49-67ABF2D7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8E4E7"/>
                </a:solidFill>
              </a:defRPr>
            </a:pPr>
            <a:r>
              <a:rPr sz="1050" b="1">
                <a:solidFill>
                  <a:srgbClr val="D8E4E7"/>
                </a:solidFill>
              </a:rPr>
              <a:t>FYP ENGINEERING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65E59-7FFC-4D03-AEA2-8C33C535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038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633"/>
                </a:solidFill>
              </a:defRPr>
            </a:pPr>
            <a:r>
              <a:rPr sz="4050" b="1">
                <a:solidFill>
                  <a:srgbClr val="182633"/>
                </a:solidFill>
              </a:rPr>
              <a:t>From neural intention to robotic assistance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55DD4-86A4-4F02-A0D2-40CE08C3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D6B76"/>
                </a:solidFill>
              </a:defRPr>
            </a:pPr>
            <a:r>
              <a:rPr sz="1800" b="0">
                <a:solidFill>
                  <a:srgbClr val="5D6B76"/>
                </a:solidFill>
              </a:rPr>
              <a:t>A detailed record of the P300/EEG, Transformer, vision and robotic systems behind Project Flamescion.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254EA-8B93-4B22-8B79-037A5063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PROJECT FLAMESCION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0C452-7FC9-429C-B964-91E8E68F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01</a:t>
            </a:r>
          </a:p>
        </p:txBody>
      </p:sp>
    </p:spTree>
    <p:extLst>
      <p:ext uri="{BB962C8B-B14F-4D97-AF65-F5344CB8AC3E}">
        <p14:creationId xmlns:p14="http://schemas.microsoft.com/office/powerpoint/2010/main" val="2131797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65ECC-41C3-44D5-880B-B657661D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8DB71-C3B8-4768-96DF-AB2C1D92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0DFEA-F91F-4E71-A536-FB70D69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A7F9-31E6-4CF5-AAD5-0F406FA3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778F6-D77E-4185-8E17-AA259B0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83904-5AEC-46A5-BC93-CA0166FC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The portfolio follows the path from user intention to physical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7A6E7-64B7-4E40-ABDE-14D6F12B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8938"/>
                </a:solidFill>
              </a:defRPr>
            </a:pPr>
            <a:r>
              <a:rPr sz="1200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E79FF-6929-4A38-BA3D-346559C8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Research question and system framing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34730-57E6-4B0E-A08A-C6EA8312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E7925-7FB5-49E0-8A90-603E59C2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8938"/>
                </a:solidFill>
              </a:defRPr>
            </a:pPr>
            <a:r>
              <a:rPr sz="1200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2C0A9-63F3-4F9C-8013-45E8C0A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051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P300 acquisition and physiological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40F8A-E1E8-4FAF-B03C-F43A3901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7BFCB-89FC-46CF-A647-7B1BD52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8938"/>
                </a:solidFill>
              </a:defRPr>
            </a:pPr>
            <a:r>
              <a:rPr sz="1200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6755E-46D5-4E1D-9ED0-4BE27F2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Transformer decoder and decision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1FE62-2021-4DB6-8BD9-B3F04BE3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002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65E3C-A417-4115-85E5-F44F5D2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8938"/>
                </a:solidFill>
              </a:defRPr>
            </a:pPr>
            <a:r>
              <a:rPr sz="1200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A7692-97D9-4669-BDCB-2BC617E0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719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Evaluation design and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3BF38-602C-43E9-AF97-B79900A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4342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21B5F-C4E3-4E9F-AADF-04B4FC8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8938"/>
                </a:solidFill>
              </a:defRPr>
            </a:pPr>
            <a:r>
              <a:rPr sz="1200" b="1">
                <a:solidFill>
                  <a:srgbClr val="C88938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1518C-490D-4C91-9A1C-29872FC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Vision, robotics and supporting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F8CB9-660C-4771-A5D0-149A29B5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7682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221EA-737F-4448-A5E3-3828221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8938"/>
                </a:solidFill>
              </a:defRPr>
            </a:pPr>
            <a:r>
              <a:rPr sz="1200" b="1">
                <a:solidFill>
                  <a:srgbClr val="C88938"/>
                </a:solidFill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A3869-1CEC-4D64-84D2-7091F91A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Engineering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7B724-A95F-40AC-B190-43849BBC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10225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70214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AD39B-31E3-4376-958B-9D76794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88F5A-8B44-4B85-9CB7-08A6ED0B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RESEARCH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143E8-FBB5-45FE-94AB-83CDA3B3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The FYP in one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61193-B011-4926-A345-EAD2F8DB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73BD7-4C9E-4792-9144-28F86A4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90C3A-50C0-4E63-AEA1-6F644AF8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4A0C7-62BC-4C75-9ECA-33055AF6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The FYP asks whether a user’s attention can select a physical object through a non-invasive EEG interaction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35920-E1BE-4D67-8A17-BCE6AB0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The user provides one discrete intention: which object to select. The machine handles scene understanding, P300 evidence accumulation, object identity, localisation and robotic motion.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87134-B5E2-4C73-88DE-9259ADD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EEF9C-BA41-4E53-B624-56D2C02C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APPLICATION 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09B98-F652-4208-98F6-B6933ED0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Final object selection, not single-flash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472372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C4C34-014E-4DC3-B48C-9EF95D9D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6DE86-413F-4627-BD1B-F8561BBA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30E9-6CFD-432D-B362-C2EE5BA1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From attention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1AA6-336B-47B9-AF8E-77B98986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00A9C-C244-48A6-8A24-E1C2C47E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4BAAE-4409-4A13-AF32-02B77F7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B8763-1F76-4F35-88E5-15E6E346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The research translates a P300 response from attended object labels into a verified target for a robotic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74B4D-7A3D-42CD-B4EB-22605979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The system is designed as shared control. Neural activity provides the high-level intention, while the machine handles the visual scene, repeated evidence, calibration and physical execution.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F27E5-9963-4B36-B0EA-E075821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030CC-17D6-438C-904D-8F39285B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SHARED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4B54E-D697-4FA7-B881-6872C5AD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Brain chooses. Machine executes.</a:t>
            </a:r>
          </a:p>
        </p:txBody>
      </p:sp>
    </p:spTree>
    <p:extLst>
      <p:ext uri="{BB962C8B-B14F-4D97-AF65-F5344CB8AC3E}">
        <p14:creationId xmlns:p14="http://schemas.microsoft.com/office/powerpoint/2010/main" val="1962666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D16BA-4A32-4026-A9A4-FD3DECF4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6DD2-34BE-4764-ABD7-C64CE0CF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D9D9"/>
                </a:solidFill>
              </a:defRPr>
            </a:pPr>
            <a:r>
              <a:rPr sz="900" b="1">
                <a:solidFill>
                  <a:srgbClr val="B8D9D9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D71E3-FED3-4CEE-80BA-BCDADC1F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End-to-end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BE1C9-76E1-4DAE-B365-BC3378F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ED87A-AC85-46B0-A2D0-AA96A3BA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8E4E7"/>
                </a:solidFill>
              </a:defRPr>
            </a:pPr>
            <a:r>
              <a:rPr sz="750" b="1">
                <a:solidFill>
                  <a:srgbClr val="D8E4E7"/>
                </a:solidFill>
              </a:rPr>
              <a:t>FYP ENGINEERING PORTFOLIO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60689-7A1B-48C4-AD3A-86D575B0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362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8EE00-71CC-4730-8CF0-DE9E765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C591"/>
                </a:solidFill>
              </a:defRPr>
            </a:pPr>
            <a:r>
              <a:rPr sz="975" b="1">
                <a:solidFill>
                  <a:srgbClr val="F0C59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31EE9-0A40-4356-800C-CD2E245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Scene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41A3D-81B4-45A9-8C9B-FE40479C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1847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Frozen frame and vision model return four candidate objects.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EC55B-F970-47C6-B084-4481C5D8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051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591"/>
                </a:solidFill>
              </a:defRPr>
            </a:pPr>
            <a:r>
              <a:rPr sz="1650" b="1">
                <a:solidFill>
                  <a:srgbClr val="F0C59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DF1D3-2D27-445D-8BDA-8BB08409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62200"/>
            <a:ext cx="2362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3BBC2-6FEB-48A2-94DD-7B1D5C3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0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C591"/>
                </a:solidFill>
              </a:defRPr>
            </a:pPr>
            <a:r>
              <a:rPr sz="975" b="1">
                <a:solidFill>
                  <a:srgbClr val="F0C59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B50E6-3B61-4A30-8241-2944D64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099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EEG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D0FAC-376A-425F-B914-4938FC81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33775"/>
            <a:ext cx="1847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36 flashes create 32-channel EEG epochs.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09607-5DAF-410D-9FA4-B0BA2290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3051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591"/>
                </a:solidFill>
              </a:defRPr>
            </a:pPr>
            <a:r>
              <a:rPr sz="1650" b="1">
                <a:solidFill>
                  <a:srgbClr val="F0C59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BCDE3-0495-4469-AFA7-5FA4B14E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362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F9455-A95E-46C5-A109-6AA59769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C591"/>
                </a:solidFill>
              </a:defRPr>
            </a:pPr>
            <a:r>
              <a:rPr sz="975" b="1">
                <a:solidFill>
                  <a:srgbClr val="F0C591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28F57-AD88-4AFD-A3BD-309A232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39987-B1B0-4173-9404-487FEADD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33775"/>
            <a:ext cx="1847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Transformer scores target evidence and selects one object.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456FF-00EE-4391-8741-CB93E487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0517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C591"/>
                </a:solidFill>
              </a:defRPr>
            </a:pPr>
            <a:r>
              <a:rPr sz="1650" b="1">
                <a:solidFill>
                  <a:srgbClr val="F0C59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1DB1C-177B-4142-BA42-86BAF03D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62200"/>
            <a:ext cx="2362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DD463-4CB7-420C-B293-8AE54DEF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0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C591"/>
                </a:solidFill>
              </a:defRPr>
            </a:pPr>
            <a:r>
              <a:rPr sz="975" b="1">
                <a:solidFill>
                  <a:srgbClr val="F0C591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F5F30-10B5-44FF-A8A3-74AD65D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099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Robot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53356-8FB1-436B-9541-1A3DB8D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33775"/>
            <a:ext cx="1847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Identity check, calibration, preview and arm command.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9D812-97E3-48AB-A66E-CBF2354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The system keeps a stable item identity from the vision label to the final robot target.</a:t>
            </a:r>
          </a:p>
        </p:txBody>
      </p:sp>
    </p:spTree>
    <p:extLst>
      <p:ext uri="{BB962C8B-B14F-4D97-AF65-F5344CB8AC3E}">
        <p14:creationId xmlns:p14="http://schemas.microsoft.com/office/powerpoint/2010/main" val="1444672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BB721-2DBF-44C8-BD09-E5711DAF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32CFC-C258-45A2-90D6-5C9ADB92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P300 ACQUISITION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87EF9-98D0-40E0-B7EC-AA324954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P300 acquisition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3A9C9-F850-4185-B340-E7FD8D4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34B19-6C59-464B-8933-8A620BB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A1E7E-33FE-41CB-9066-46F7B87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69405-6E73-4708-9072-F72C725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EEG 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52D98-51D8-4D24-9DA0-20A5DA01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633"/>
                </a:solidFill>
              </a:defRPr>
            </a:pPr>
            <a:r>
              <a:rPr sz="2100" b="1">
                <a:solidFill>
                  <a:srgbClr val="182633"/>
                </a:solidFill>
              </a:rPr>
              <a:t>32 channels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EE1B2-E838-4E3A-AFBD-83C72D35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6"/>
                </a:solidFill>
              </a:defRPr>
            </a:pPr>
            <a:r>
              <a:rPr sz="1050" b="0">
                <a:solidFill>
                  <a:srgbClr val="5D6B76"/>
                </a:solidFill>
              </a:rPr>
              <a:t>EMOTIV FLEX recording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AE337-09A2-4D7E-86A5-3DBE9E9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4AFFD-46F4-40EA-B807-327E172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19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SAMPLING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0315A-8C10-4134-9F6D-F18FEED6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633"/>
                </a:solidFill>
              </a:defRPr>
            </a:pPr>
            <a:r>
              <a:rPr sz="2100" b="1">
                <a:solidFill>
                  <a:srgbClr val="182633"/>
                </a:solidFill>
              </a:rPr>
              <a:t>128 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EFBA5-BD9A-4D94-9EC7-3C03B1E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43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6"/>
                </a:solidFill>
              </a:defRPr>
            </a:pPr>
            <a:r>
              <a:rPr sz="1050" b="0">
                <a:solidFill>
                  <a:srgbClr val="5D6B76"/>
                </a:solidFill>
              </a:rPr>
              <a:t>Session-level recording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54BEF-E3B5-4B3A-B8B3-AC38DAB6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98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F4BD8-3AAF-44BC-B826-4A3804B2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EPOCH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3B996-CC57-4395-A636-0A38D28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633"/>
                </a:solidFill>
              </a:defRPr>
            </a:pPr>
            <a:r>
              <a:rPr sz="2100" b="1">
                <a:solidFill>
                  <a:srgbClr val="182633"/>
                </a:solidFill>
              </a:rPr>
              <a:t>−0.2 s to +0.8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8FC44-809C-4151-8873-6124C0AF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6"/>
                </a:solidFill>
              </a:defRPr>
            </a:pPr>
            <a:r>
              <a:rPr sz="1050" b="0">
                <a:solidFill>
                  <a:srgbClr val="5D6B76"/>
                </a:solidFill>
              </a:rPr>
              <a:t>129 samples per epoch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32049-CE17-4E28-A49A-1454753D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04653-082D-4353-929A-6F615AB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FLASH PROTOCOL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5CD0D-43A0-4709-AE1B-1084BB68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633"/>
                </a:solidFill>
              </a:defRPr>
            </a:pPr>
            <a:r>
              <a:rPr sz="2100" b="1">
                <a:solidFill>
                  <a:srgbClr val="182633"/>
                </a:solidFill>
              </a:rPr>
              <a:t>36 flashes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5602A5-C94C-4A42-A60E-FAFCFE31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6"/>
                </a:solidFill>
              </a:defRPr>
            </a:pPr>
            <a:r>
              <a:rPr sz="1050" b="0">
                <a:solidFill>
                  <a:srgbClr val="5D6B76"/>
                </a:solidFill>
              </a:rPr>
              <a:t>4 objects × 9 repetitions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D9949-FEE7-45C0-8EF8-C7E9371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433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362B1-0D04-44AA-B642-BBC41FC0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STIMULUS 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DCA51-1D3B-4D40-8339-3C31F349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633"/>
                </a:solidFill>
              </a:defRPr>
            </a:pPr>
            <a:r>
              <a:rPr sz="2100" b="1">
                <a:solidFill>
                  <a:srgbClr val="182633"/>
                </a:solidFill>
              </a:rPr>
              <a:t>One attended label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9D27B-F88C-4C29-81D5-DAAA09F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768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6"/>
                </a:solidFill>
              </a:defRPr>
            </a:pPr>
            <a:r>
              <a:rPr sz="1050" b="0">
                <a:solidFill>
                  <a:srgbClr val="5D6B76"/>
                </a:solidFill>
              </a:rPr>
              <a:t>Candidate names are flashed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700C2-5768-4436-8F5F-2070DB7E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433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5D430-AFFC-40F6-84DA-6258C132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SELECTION UNIT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C3E039-FB98-4B78-B2BA-753F1550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633"/>
                </a:solidFill>
              </a:defRPr>
            </a:pPr>
            <a:r>
              <a:rPr sz="2100" b="1">
                <a:solidFill>
                  <a:srgbClr val="182633"/>
                </a:solidFill>
              </a:rPr>
              <a:t>One object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E0B40-4168-4036-A06C-EC130B7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6"/>
                </a:solidFill>
              </a:defRPr>
            </a:pPr>
            <a:r>
              <a:rPr sz="1050" b="0">
                <a:solidFill>
                  <a:srgbClr val="5D6B76"/>
                </a:solidFill>
              </a:rPr>
              <a:t>Evidence is accumulated by object</a:t>
            </a:r>
          </a:p>
        </p:txBody>
      </p:sp>
    </p:spTree>
    <p:extLst>
      <p:ext uri="{BB962C8B-B14F-4D97-AF65-F5344CB8AC3E}">
        <p14:creationId xmlns:p14="http://schemas.microsoft.com/office/powerpoint/2010/main" val="509698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F7520-0ED9-4567-A0B8-B79ED19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50720-D8FC-4EF5-AE4A-037AB1E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PHYSIOLOGICAL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473A1-EAD4-4376-8E7D-3A27B6FA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ERP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6C6F2-ABF2-4462-823A-00032B1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D9ACE-8B4F-4C26-9765-6E50E835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888AF-6252-46A5-B663-FC5A5C8F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4A535-A629-4343-954C-3E8697F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Representative P7, session 5 and Fz ERP traces show target and non-target responses separating in the expected P300 window.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6789-5BF5-4381-A8AE-3FCAA4F9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This physiological separation shows that the session contains task-related ERP evidence that can support decoding. It is presented as representative session evidence rather than a universal result for every recording.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7EDE1-09D0-427E-90E8-0747A04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4C855-A1FC-414C-8E82-AF950CD2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A4136-607A-4D01-9433-411BC350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The decoder receives a measurable attention-related signal.</a:t>
            </a:r>
          </a:p>
        </p:txBody>
      </p:sp>
    </p:spTree>
    <p:extLst>
      <p:ext uri="{BB962C8B-B14F-4D97-AF65-F5344CB8AC3E}">
        <p14:creationId xmlns:p14="http://schemas.microsoft.com/office/powerpoint/2010/main" val="1712710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33C60-1FD2-45CA-BB54-60979F1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EA7A3-418A-4CE4-872C-0186BF2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SIGNAL ROUTE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43C12-31ED-4804-978A-17A92EB7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From EEG epoch to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F1EB7-9D9F-4EC7-9075-ED033046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38865-E3AF-4AEC-A59F-189756A0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8A9E1-B1D0-4460-B3B4-5E4F878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6A745-7BE2-403A-B530-50A819F7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Each flash creates a time-locked EEG epoch. The decoder scores target evidence, and object-level accumulation combines repeated flashes before a final choice.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F2D6E-7937-4611-A11E-115A0BE2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This keeps the decision tied to an object rather than treating one isolated flash score as the final interaction output. The object identifier then continues into the robotic control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AE7F0-79F9-4835-B672-92EB685E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7E0EF-5C28-4AC0-BA6C-1E23FC46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DECISION UNIT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C798A-8452-4CCF-ABC2-A45C233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One selected object.</a:t>
            </a:r>
          </a:p>
        </p:txBody>
      </p:sp>
    </p:spTree>
    <p:extLst>
      <p:ext uri="{BB962C8B-B14F-4D97-AF65-F5344CB8AC3E}">
        <p14:creationId xmlns:p14="http://schemas.microsoft.com/office/powerpoint/2010/main" val="1021820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7BB66-01FE-41A0-AF67-BE289C7B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738D-BC9D-4D2C-8C10-B2D3BB94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D9D9"/>
                </a:solidFill>
              </a:defRPr>
            </a:pPr>
            <a:r>
              <a:rPr sz="900" b="1">
                <a:solidFill>
                  <a:srgbClr val="B8D9D9"/>
                </a:solidFill>
              </a:rPr>
              <a:t>NEURAL DECODER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5D8EB-9D55-424F-BA1A-DCA7A9C5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Transformer-based P300 decoder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5AE8F-6B39-4524-AF60-4B4CFC85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B14A5-4B92-4522-B2EC-34DB664C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8E4E7"/>
                </a:solidFill>
              </a:defRPr>
            </a:pPr>
            <a:r>
              <a:rPr sz="750" b="1">
                <a:solidFill>
                  <a:srgbClr val="D8E4E7"/>
                </a:solidFill>
              </a:rPr>
              <a:t>FYP ENGINEERING PORTFOLIO  /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A9E52-46A2-4971-87B5-7BE9627D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C4E91-D546-45C0-9890-D20BFAB1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431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129 × 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658F9-0A61-405B-9E15-3140946C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71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ECEE"/>
                </a:solidFill>
              </a:defRPr>
            </a:pPr>
            <a:r>
              <a:rPr sz="1275" b="0">
                <a:solidFill>
                  <a:srgbClr val="E2ECEE"/>
                </a:solidFill>
              </a:rPr>
              <a:t>Time samples × EEG channels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56C61-6ADA-4115-8841-6AA11159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0EAE6-338F-4E0B-A5DC-C4B426B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PROJECTION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B058C-44CD-465B-92DB-40A76241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289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192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03F64-04B7-42B3-A91B-384D349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ECEE"/>
                </a:solidFill>
              </a:defRPr>
            </a:pPr>
            <a:r>
              <a:rPr sz="1275" b="0">
                <a:solidFill>
                  <a:srgbClr val="E2ECEE"/>
                </a:solidFill>
              </a:rPr>
              <a:t>Model representation dimension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4F3E7-2FD3-48B5-BF32-BA8A6F5C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63CA1-C75E-48D1-B7FC-BFCA9060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ENCODER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E059F-C47F-400C-BCBD-18529C12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147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 layers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857EB-8813-43F2-9A6E-DD38C814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ECEE"/>
                </a:solidFill>
              </a:defRPr>
            </a:pPr>
            <a:r>
              <a:rPr sz="1275" b="0">
                <a:solidFill>
                  <a:srgbClr val="E2ECEE"/>
                </a:solidFill>
              </a:rPr>
              <a:t>4 attention heads in each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4DD4D-3DE1-443E-A184-840F6CEF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F98D7-ED93-4237-B35B-BD4AA468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FEED-FORWARD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04599-01F6-4B06-9814-FA8017A1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005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24313-8459-48D6-BBBF-8D075A0B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9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ECEE"/>
                </a:solidFill>
              </a:defRPr>
            </a:pPr>
            <a:r>
              <a:rPr sz="1275" b="0">
                <a:solidFill>
                  <a:srgbClr val="E2ECEE"/>
                </a:solidFill>
              </a:rPr>
              <a:t>GELU activation with 0.20 dropout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4F8B6-574B-4F48-8491-9FBD950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682E5-9EF6-4991-B637-0F94BDE8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8C06C-59F4-42F1-BD3B-A2F5BCB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2047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 logits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E82BA-0984-4C4D-831C-20224FD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14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2ECEE"/>
                </a:solidFill>
              </a:defRPr>
            </a:pPr>
            <a:r>
              <a:rPr sz="1275" b="0">
                <a:solidFill>
                  <a:srgbClr val="E2ECEE"/>
                </a:solidFill>
              </a:rPr>
              <a:t>Target and non-target margin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A22A5-FE65-44FE-9F1C-E0ACD3EF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1587F-EAE5-4644-8670-B0EC4D97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626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0E6E0"/>
                </a:solidFill>
              </a:defRPr>
            </a:pPr>
            <a:r>
              <a:rPr sz="1350" b="0">
                <a:solidFill>
                  <a:srgbClr val="F0E6E0"/>
                </a:solidFill>
              </a:rPr>
              <a:t>The route starts from a base checkpoint trained on 24,091 public epochs, then adapts to the recorded participant route.</a:t>
            </a:r>
          </a:p>
        </p:txBody>
      </p:sp>
    </p:spTree>
    <p:extLst>
      <p:ext uri="{BB962C8B-B14F-4D97-AF65-F5344CB8AC3E}">
        <p14:creationId xmlns:p14="http://schemas.microsoft.com/office/powerpoint/2010/main" val="1779850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1D6DD-5651-45AB-B99E-C3B3D519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752F2-FC07-410E-902C-C0B510A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ABF17-4D8B-4AC9-824C-C163C2E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Evaluation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9242-3AFB-4FF5-BA8B-3CC7D25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14B0F-3BCF-4C2A-BA3E-9CC6E96A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DE709-8A0C-48D4-A122-D8AFCDEE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8583C-BAF5-43FC-A1C3-4281E650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479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Session-level splits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E00E2-B958-4DDB-A63A-060C7BF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4797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Separate recordings by session so epochs from one recording do not appear on both sides of a split.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F4E56-FC9A-44F7-9862-BB00EDA5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7C5D1-9BD1-49D0-A643-69476E9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479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Participant-specific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42B03-357F-4292-A573-8419B33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4797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Each participant keeps an independent adaptation route and normalizer.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CDB4E-FE66-4E75-A918-37CD8DB2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C0AE3-FF1A-493E-BA25-3EFAF7E8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576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Validation-only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45B24-4F68-499F-ADE6-31DAE73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577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Adaptive choices use validation evidence, while diagnostic test fields remain hidden during selection.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B5F85-D09D-44F5-839E-247FA159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4876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FC8C9-4B91-44A7-9113-BC767A28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576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Application metric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D6AB9-7FFC-4064-B748-35515E3E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6577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Object-selection accuracy ranks the system; flash F1 explains signal-level behaviour.</a:t>
            </a:r>
          </a:p>
        </p:txBody>
      </p:sp>
    </p:spTree>
    <p:extLst>
      <p:ext uri="{BB962C8B-B14F-4D97-AF65-F5344CB8AC3E}">
        <p14:creationId xmlns:p14="http://schemas.microsoft.com/office/powerpoint/2010/main" val="852700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BD293-95A1-4472-9C02-AC4439CE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72748-6D5B-4876-B241-CA0F2002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D9D9"/>
                </a:solidFill>
              </a:defRPr>
            </a:pPr>
            <a:r>
              <a:rPr sz="900" b="1">
                <a:solidFill>
                  <a:srgbClr val="B8D9D9"/>
                </a:solidFill>
              </a:rPr>
              <a:t>EVALUATION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C3FA-19D9-498F-9D32-CA93ABE3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Evidence by evaluation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EA42D-3FB0-41C1-87DF-5C944E55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D176E-0760-4CCC-8F4C-26A4D043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8E4E7"/>
                </a:solidFill>
              </a:defRPr>
            </a:pPr>
            <a:r>
              <a:rPr sz="750" b="1">
                <a:solidFill>
                  <a:srgbClr val="D8E4E7"/>
                </a:solidFill>
              </a:rPr>
              <a:t>FYP ENGINEERING PORTFOLIO  /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22322-3ADC-40F5-A960-16305B77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C4458-68CD-4DFD-9EAE-A6D9351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PUBLIC BASE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115A9-D3BA-4A98-B012-2A0FA6F8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71.07% target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E26E7-0C7E-409F-96E5-AAF1C2ED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0E6E0"/>
                </a:solidFill>
              </a:defRPr>
            </a:pPr>
            <a:r>
              <a:rPr sz="1050" b="0">
                <a:solidFill>
                  <a:srgbClr val="F0E6E0"/>
                </a:solidFill>
              </a:rPr>
              <a:t>Architecture-development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114F5-A258-4536-BBE2-ACC23FB8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681DF-A1C4-4F0D-B38A-0931B1C6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19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STRONGEST SAVED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8080E-304D-4653-83B6-D87FF23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75 / 83.33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A0FB9-DA30-49C8-948D-5C84D18B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43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0E6E0"/>
                </a:solidFill>
              </a:defRPr>
            </a:pPr>
            <a:r>
              <a:rPr sz="1050" b="0">
                <a:solidFill>
                  <a:srgbClr val="F0E6E0"/>
                </a:solidFill>
              </a:rPr>
              <a:t>Validation / held-out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D2A32-9118-4A75-A68A-48352AED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098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FE81D-B6B0-4F64-8793-248B5733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LIVE B-V2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1EC76-A38A-498E-900C-3C64591C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35 / 49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242AE-0962-4A18-A52E-21F7CCB4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0E6E0"/>
                </a:solidFill>
              </a:defRPr>
            </a:pPr>
            <a:r>
              <a:rPr sz="1050" b="0">
                <a:solidFill>
                  <a:srgbClr val="F0E6E0"/>
                </a:solidFill>
              </a:rPr>
              <a:t>71.43% labelled bursts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BADBD-3A85-40FF-BA75-41429F83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433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6DE0E-4645-4866-B294-DC6AFDD7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5290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C591"/>
                </a:solidFill>
              </a:defRPr>
            </a:pPr>
            <a:r>
              <a:rPr sz="900" b="1">
                <a:solidFill>
                  <a:srgbClr val="F0C591"/>
                </a:solidFill>
              </a:rPr>
              <a:t>V2 ARM 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8D56D-F595-4817-9455-DF4B9AF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48 / 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72756-0D28-4577-89E2-363D0EF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76800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0E6E0"/>
                </a:solidFill>
              </a:defRPr>
            </a:pPr>
            <a:r>
              <a:rPr sz="1050" b="0">
                <a:solidFill>
                  <a:srgbClr val="F0E6E0"/>
                </a:solidFill>
              </a:rPr>
              <a:t>Command completion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65037-1BE3-46DD-8057-AAA3F4B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0E6E0"/>
                </a:solidFill>
              </a:defRPr>
            </a:pPr>
            <a:r>
              <a:rPr sz="1350" b="0">
                <a:solidFill>
                  <a:srgbClr val="F0E6E0"/>
                </a:solidFill>
              </a:rPr>
              <a:t>Each result answers a different question: decoder behaviour, saved-route evaluation, live selection, or command execution.</a:t>
            </a:r>
          </a:p>
        </p:txBody>
      </p:sp>
    </p:spTree>
    <p:extLst>
      <p:ext uri="{BB962C8B-B14F-4D97-AF65-F5344CB8AC3E}">
        <p14:creationId xmlns:p14="http://schemas.microsoft.com/office/powerpoint/2010/main" val="14271219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9CC64-F63F-4D27-A8EA-EBD16CB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42C03-CBF0-4D13-A947-AF9B235F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ROBOTIC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EF3B7-BFB2-4562-8D1A-2F08A294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From selection to physical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F1DEC-A4A5-4BAF-8660-DC4951EB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F2D2F-34DA-48F5-8423-87FE317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175E1-46A8-4881-9136-5E00D6F0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072D4-F4F2-45C6-BB03-CBC1DC7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859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Frozen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D14CA-D3F2-4D7B-B96E-FAD5DE5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The vision layer holds one frame before candidate objects are selected.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7A2B5-0F03-489E-91A8-0E1C1F91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630BA-DC64-44BA-A378-B5025423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09FD-4CAD-413A-AF5B-76E09E8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Object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A896E-ED86-4FE8-A4A2-D405C90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The selected label stays attached to one item ID across the decision and movement steps.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51595-6F99-4C64-8DEB-02247F1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FEAFB-BB85-45D8-B656-5986A9D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309CB-8708-42F7-9529-BD566459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147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Calibration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AFC34-D36C-494E-B7E7-C4FF746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A calibration mat and AprilTags align the target position with the robot workspace.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720D9-8F8F-4795-A478-3F7191F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1B6C7-F813-42E8-9AB6-240B1B8D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85832-FF1A-4090-8519-8414AF99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291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Reachability and 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19379-7DFB-4F51-9E78-12FB6BA3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The control path checks the planned movement before execution.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B83BF-9419-4AFE-9D2F-0C1B31A5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C9E14-9CBF-4193-AE70-CC7FF44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95D76-9429-4C42-A06A-1B7A1947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434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633"/>
                </a:solidFill>
              </a:defRPr>
            </a:pPr>
            <a:r>
              <a:rPr sz="1425" b="1">
                <a:solidFill>
                  <a:srgbClr val="182633"/>
                </a:solidFill>
              </a:rPr>
              <a:t>DOFBOT 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9F298-388B-44FA-AD0D-B8EF41AA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6"/>
                </a:solidFill>
              </a:defRPr>
            </a:pPr>
            <a:r>
              <a:rPr sz="1275" b="0">
                <a:solidFill>
                  <a:srgbClr val="5D6B76"/>
                </a:solidFill>
              </a:rPr>
              <a:t>The robot environment receives the verified target and performs the motion routine.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2DA73-46E8-4BAA-82BB-CDE76101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53682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7328D-EED0-4074-9F85-A646F8B6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CC418-8DB0-425B-9441-2CD52B8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R-ARM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4EB53-DAE3-475C-B894-95C136B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Custom robotic-arm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87064-4633-4B34-8297-3816D1F9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0DB78-6D69-49BE-8C01-44E207F1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1D490-0356-43DC-8917-D2294F8A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A4420-D33F-4C78-955F-38D67DD3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The R-Arm branch combines CAD, ESP32 control, visual picking and motion routines for a separate custom hardware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D7A4D-F01A-4263-9E81-26A9ADB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The branch provides a parallel test environment for the FYP direction: a physical arm, visual target handling and low-level motion control connected through a defined software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D60B6-7126-4E75-AA79-BC5C81E4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0B756-FDC5-4A2D-AB0C-CE8F3B48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SYSTEM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7C04C-CD48-48EC-BD6B-35BF726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Custom-arm development and physical-control testing.</a:t>
            </a:r>
          </a:p>
        </p:txBody>
      </p:sp>
    </p:spTree>
    <p:extLst>
      <p:ext uri="{BB962C8B-B14F-4D97-AF65-F5344CB8AC3E}">
        <p14:creationId xmlns:p14="http://schemas.microsoft.com/office/powerpoint/2010/main" val="13460997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F2C0C-7479-4801-9204-22038868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0ACFD-A478-4382-B7F7-2E9975AA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D9D9"/>
                </a:solidFill>
              </a:defRPr>
            </a:pPr>
            <a:r>
              <a:rPr sz="900" b="1">
                <a:solidFill>
                  <a:srgbClr val="B8D9D9"/>
                </a:solidFill>
              </a:rPr>
              <a:t>ROBOTIC GROUNDWORK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80E7C-0516-466B-BAF7-F2E84623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TENG-based adaptive robotic grip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7D51B-941B-4CEB-8357-26D5A376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93625-231E-4359-A621-A9C2A31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8E4E7"/>
                </a:solidFill>
              </a:defRPr>
            </a:pPr>
            <a:r>
              <a:rPr sz="750" b="1">
                <a:solidFill>
                  <a:srgbClr val="D8E4E7"/>
                </a:solidFill>
              </a:rPr>
              <a:t>FYP ENGINEERING PORTFOLIO  /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97A71-AB02-4C6F-B690-41AEC7C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 tactile-feedback grip prototype adjusts the closing action to a pressure target associated with the detected object.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C3B9-0317-40DD-9E41-EA5B1BE8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7D16F-70C8-473C-87CC-28909DC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C591"/>
                </a:solidFill>
              </a:defRPr>
            </a:pPr>
            <a:r>
              <a:rPr sz="1050" b="1">
                <a:solidFill>
                  <a:srgbClr val="F0C591"/>
                </a:solidFill>
              </a:rPr>
              <a:t>Human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EDE61-1D7C-444A-80F0-84864FEC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1.38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C56ABD-D7E5-4A49-B877-7E615418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81375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177DB-193F-4445-87E5-22DA2E91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290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C591"/>
                </a:solidFill>
              </a:defRPr>
            </a:pPr>
            <a:r>
              <a:rPr sz="1050" b="1">
                <a:solidFill>
                  <a:srgbClr val="F0C591"/>
                </a:solidFill>
              </a:rPr>
              <a:t>Mouse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AD2DD-DFF6-438D-A3CA-61C8B8AE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624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1.24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2755A-E1CF-4EB9-8AE9-EA374C53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81375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25918-B685-4AD2-946B-EFD0DBEB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290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C591"/>
                </a:solidFill>
              </a:defRPr>
            </a:pPr>
            <a:r>
              <a:rPr sz="1050" b="1">
                <a:solidFill>
                  <a:srgbClr val="F0C591"/>
                </a:solidFill>
              </a:rPr>
              <a:t>Pen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30544-43B9-4379-AFF1-579E871D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624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1.09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88443-2D7D-48F3-A802-27D8A15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81375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E3A8F-A4F7-410B-9434-6F9C3AA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290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0C591"/>
                </a:solidFill>
              </a:defRPr>
            </a:pPr>
            <a:r>
              <a:rPr sz="1050" b="1">
                <a:solidFill>
                  <a:srgbClr val="F0C591"/>
                </a:solidFill>
              </a:rPr>
              <a:t>Bottle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3B99F-3761-43F7-B593-E7172398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624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0.79 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385D54-AC94-4C7D-B493-A369F74E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0E6E0"/>
                </a:solidFill>
              </a:defRPr>
            </a:pPr>
            <a:r>
              <a:rPr sz="1500" b="1">
                <a:solidFill>
                  <a:srgbClr val="F0E6E0"/>
                </a:solidFill>
              </a:rPr>
              <a:t>Object identity → target hardness → tactile feedback → stop or release</a:t>
            </a:r>
          </a:p>
        </p:txBody>
      </p:sp>
    </p:spTree>
    <p:extLst>
      <p:ext uri="{BB962C8B-B14F-4D97-AF65-F5344CB8AC3E}">
        <p14:creationId xmlns:p14="http://schemas.microsoft.com/office/powerpoint/2010/main" val="4512040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BE068-6CEA-4832-AB28-4FB47760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EF9F4-A98B-4B47-A502-1580998D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ALTERNATIVE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76C12-8FE2-4023-BBCA-FBCC334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Iris-based intent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7D9D5-E659-4CA2-910F-1CBB7D6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C6ED1-3AF8-49D0-A826-88B01BC3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84CA6-8321-4268-8693-1C7D496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2D314-AB98-4024-A524-88400F1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A gaze-and-confirmation module can replace the EEG input while preserving the rest of the robotic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42868-AFB3-4583-B05B-707612D6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The camera and vision model keep their object labels, the selection module produces one target ID, and the downstream state machine and arm-control path can receive the same decision format.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DC57F-C3EE-4E6C-A3FD-FC5DAF21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95CA4-2887-437F-ACFB-965D866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BDDBF-D3C9-4B96-BE77-BA06C182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A hands-free selection route for a robotic-arm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0748936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EEE8B-79C4-484C-BC00-4080DA36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0AB14-7BDC-4D8A-95AD-4624D466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SUPPORTING SOFTWARE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D5B7A-A5E2-46F1-97DE-0C93254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Tools around the core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F26F0-9798-42B9-80AE-F97F2BC2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E85F4-D6B0-405A-8EC7-6A8EF67C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E0151-0576-48CB-8E15-6501A4FC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667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264B-88B9-4F47-90B3-88D9F72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860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633"/>
                </a:solidFill>
              </a:defRPr>
            </a:pPr>
            <a:r>
              <a:rPr sz="1950" b="1">
                <a:solidFill>
                  <a:srgbClr val="182633"/>
                </a:solidFill>
              </a:rPr>
              <a:t>The FYP work includes VLM utilities, interface components, collection tools, datasets and test material that support the main EEG-to-robot pathway.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F100F-F880-400F-9775-55117ED8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5905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These components support the same direction: collect controlled evidence, decode one selection, preserve object identity and send a verified target to a robot-control environment.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E1096-3FEB-417A-8469-869F98CB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81225"/>
            <a:ext cx="3143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E0D9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4B13E-E440-41D0-962C-843361C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6E7A"/>
                </a:solidFill>
              </a:defRPr>
            </a:pPr>
            <a:r>
              <a:rPr sz="975" b="1">
                <a:solidFill>
                  <a:srgbClr val="2C6E7A"/>
                </a:solidFill>
              </a:rPr>
              <a:t>ENGINEERING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8DC8A-D005-408A-8EAD-41229293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333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EEG, Transformer, vision, interface and robot control.</a:t>
            </a:r>
          </a:p>
        </p:txBody>
      </p:sp>
    </p:spTree>
    <p:extLst>
      <p:ext uri="{BB962C8B-B14F-4D97-AF65-F5344CB8AC3E}">
        <p14:creationId xmlns:p14="http://schemas.microsoft.com/office/powerpoint/2010/main" val="14555925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9E053-589C-4156-831B-BB5308D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E1F55-0510-4349-81B6-99F75396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D9D9"/>
                </a:solidFill>
              </a:defRPr>
            </a:pPr>
            <a:r>
              <a:rPr sz="900" b="1">
                <a:solidFill>
                  <a:srgbClr val="B8D9D9"/>
                </a:solidFill>
              </a:rPr>
              <a:t>ENGINEERING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F75FB-AC81-4B6B-963C-FA8783ED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Current technical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22DF9-244D-4B12-9583-8474C1A1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5"/>
          </a:solidFill>
          <a:ln xmlns:a="http://schemas.openxmlformats.org/drawingml/2006/main" w="0">
            <a:solidFill>
              <a:srgbClr val="52627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4AA64-263B-4D6C-8F00-3BED8D6F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D8E4E7"/>
                </a:solidFill>
              </a:defRPr>
            </a:pPr>
            <a:r>
              <a:rPr sz="750" b="1">
                <a:solidFill>
                  <a:srgbClr val="D8E4E7"/>
                </a:solidFill>
              </a:rPr>
              <a:t>FYP ENGINEERING PORTFOLIO  /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A9B8F-AF8A-43FE-9235-2FD31A3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87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59B6F-7E50-4171-8CF2-16A369F5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Reliability versus latency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1EAEB-A182-4E9A-999E-B299E907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Nine repetitions per object provide repeated evidence, but each repetition adds selection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C1335-AE6B-4C5D-81AC-BAF9E9D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487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E0E80-1833-4E55-A248-1A00366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Cross-session behaviour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C9A5A-5B4A-4474-80E3-625B7BED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The route must keep the same decision quality across different recording sessions.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4D6E7-BFD7-4F95-8461-893B2E1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87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40337-C482-4643-BD3B-EF9DE08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Decision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4A4A8-37BB-4017-90E9-02E79EF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Confidence-aware stopping can use only the evidence needed before the system 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69867-94C4-4BE5-8D0F-655E663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86200"/>
            <a:ext cx="487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1111"/>
          </a:solidFill>
          <a:ln xmlns:a="http://schemas.openxmlformats.org/drawingml/2006/main" w="9525">
            <a:solidFill>
              <a:srgbClr val="8E4E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1102A-64AC-402E-BFDD-DEC565EF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Physical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8246A-389A-49DD-A5EE-12426FB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862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0E6E0"/>
                </a:solidFill>
              </a:defRPr>
            </a:pPr>
            <a:r>
              <a:rPr sz="1275" b="0">
                <a:solidFill>
                  <a:srgbClr val="F0E6E0"/>
                </a:solidFill>
              </a:rPr>
              <a:t>Neural selection, sensing and robot motion need one safety-aware control path.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72B4A-48C4-43F7-81CD-F92C235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next target is a lower-latency neural decision that remains useful for real robotic assistance.</a:t>
            </a:r>
          </a:p>
        </p:txBody>
      </p:sp>
    </p:spTree>
    <p:extLst>
      <p:ext uri="{BB962C8B-B14F-4D97-AF65-F5344CB8AC3E}">
        <p14:creationId xmlns:p14="http://schemas.microsoft.com/office/powerpoint/2010/main" val="2605521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E25DC-ED1B-4F3C-A8DA-2C08E74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938"/>
          </a:solidFill>
          <a:ln xmlns:a="http://schemas.openxmlformats.org/drawingml/2006/main" w="9525">
            <a:solidFill>
              <a:srgbClr val="C8893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7DF76-F74E-4C5E-91AE-7FAAFA44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C6E7A"/>
                </a:solidFill>
              </a:defRPr>
            </a:pPr>
            <a:r>
              <a:rPr sz="900" b="1">
                <a:solidFill>
                  <a:srgbClr val="2C6E7A"/>
                </a:solidFill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B7256-2A92-4F97-BD17-2CC016C8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633"/>
                </a:solidFill>
              </a:defRPr>
            </a:pPr>
            <a:r>
              <a:rPr sz="2850" b="1">
                <a:solidFill>
                  <a:srgbClr val="182633"/>
                </a:solidFill>
              </a:rPr>
              <a:t>FYP system in one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07CDB-4E28-4F7C-BE17-3444C58B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7931E-2343-4ACE-A7CD-358750E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6B76"/>
                </a:solidFill>
              </a:defRPr>
            </a:pPr>
            <a:r>
              <a:rPr sz="750" b="1">
                <a:solidFill>
                  <a:srgbClr val="5D6B76"/>
                </a:solidFill>
              </a:rPr>
              <a:t>FYP ENGINEERING PORTFOLIO  / 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CC77-1884-484B-BFE8-23F46801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8A441-A9F7-4DE0-8A8D-A61F191C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Intention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08137-C77C-4137-A4E4-0E7CB8E7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860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A user attends to one visible object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E98A-1A2F-4E75-9B5F-FE5391F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F2897-C17C-4FBD-90BA-FF4052A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59260-A821-4496-A4E8-D3DA14B3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09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4CB91-B762-4310-A33A-E3B2D432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P300 EEG epochs pass through a Transformer decoder.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2E4BF-4A34-45C8-8430-A0A613DE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7AD85-4619-44A5-9708-1EAFB276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0F6B-65CE-4BC2-9FB7-F963972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52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BA2C2-3DB6-415E-9DE5-BBEA567D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Repeated flash evidence selects one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39358-3019-4E19-9DA4-AB4E8FFC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16492-200F-4DAF-9E07-80ECFB57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8938"/>
                </a:solidFill>
              </a:defRPr>
            </a:pPr>
            <a:r>
              <a:rPr sz="1050" b="1">
                <a:solidFill>
                  <a:srgbClr val="C8893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36857-02E2-4D99-A5CD-C07CF9CA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633"/>
                </a:solidFill>
              </a:defRPr>
            </a:pPr>
            <a:r>
              <a:rPr sz="1575" b="1">
                <a:solidFill>
                  <a:srgbClr val="182633"/>
                </a:solidFill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F6682-69DF-421B-8325-DDA28F38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148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6"/>
                </a:solidFill>
              </a:defRPr>
            </a:pPr>
            <a:r>
              <a:rPr sz="1350" b="0">
                <a:solidFill>
                  <a:srgbClr val="5D6B76"/>
                </a:solidFill>
              </a:rPr>
              <a:t>Vision identity, calibration and robot control execute the physical step.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E3316-A5FD-4A25-A0D0-5C05FABE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D"/>
          </a:solidFill>
          <a:ln xmlns:a="http://schemas.openxmlformats.org/drawingml/2006/main" w="0">
            <a:solidFill>
              <a:srgbClr val="D9D5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CDC26-23E2-41DD-A7A5-E72917E5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633"/>
                </a:solidFill>
              </a:defRPr>
            </a:pPr>
            <a:r>
              <a:rPr sz="1650" b="1">
                <a:solidFill>
                  <a:srgbClr val="182633"/>
                </a:solidFill>
              </a:rPr>
              <a:t>Project Flamescion connects neural intention, machine decoding, scene understanding and robotic action in one engineering system.</a:t>
            </a:r>
          </a:p>
        </p:txBody>
      </p:sp>
    </p:spTree>
    <p:extLst>
      <p:ext uri="{BB962C8B-B14F-4D97-AF65-F5344CB8AC3E}">
        <p14:creationId xmlns:p14="http://schemas.microsoft.com/office/powerpoint/2010/main" val="394566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2026-08-27T02:47:37.4340000Z</dcterms:created>
  <dcterms:modified xsi:type="dcterms:W3CDTF">2026-08-27T02:47:37.4350000Z</dcterms:modified>
</coreProperties>
</file>